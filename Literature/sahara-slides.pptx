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1368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116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39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05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769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04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085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8179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8040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219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6045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892D2A-13D2-49A8-BB0B-3C0A7A9223EB}" type="datetimeFigureOut">
              <a:rPr lang="de-DE" smtClean="0"/>
              <a:t>09.11.2018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41ABC-8C56-496B-BA15-73CD5328F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9474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6026" y="1268760"/>
            <a:ext cx="9150976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Gruppieren 12"/>
          <p:cNvGrpSpPr/>
          <p:nvPr/>
        </p:nvGrpSpPr>
        <p:grpSpPr>
          <a:xfrm>
            <a:off x="3347864" y="1836177"/>
            <a:ext cx="3108693" cy="3101443"/>
            <a:chOff x="3347864" y="1438037"/>
            <a:chExt cx="3108693" cy="3101443"/>
          </a:xfrm>
        </p:grpSpPr>
        <p:grpSp>
          <p:nvGrpSpPr>
            <p:cNvPr id="55" name="Gruppieren 54"/>
            <p:cNvGrpSpPr/>
            <p:nvPr/>
          </p:nvGrpSpPr>
          <p:grpSpPr>
            <a:xfrm>
              <a:off x="3347864" y="1438037"/>
              <a:ext cx="3108693" cy="3101443"/>
              <a:chOff x="3815718" y="1756526"/>
              <a:chExt cx="3108693" cy="3101443"/>
            </a:xfrm>
          </p:grpSpPr>
          <p:pic>
            <p:nvPicPr>
              <p:cNvPr id="56" name="Picture 2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54624" y="2953458"/>
                <a:ext cx="1121632" cy="16276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" name="Textfeld 56"/>
              <p:cNvSpPr txBox="1"/>
              <p:nvPr/>
            </p:nvSpPr>
            <p:spPr>
              <a:xfrm>
                <a:off x="5691381" y="4396304"/>
                <a:ext cx="12330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400" dirty="0" smtClean="0"/>
                  <a:t>0</a:t>
                </a:r>
                <a:r>
                  <a:rPr lang="de-DE" sz="2400" dirty="0" smtClean="0"/>
                  <a:t>          </a:t>
                </a:r>
                <a:r>
                  <a:rPr lang="de-DE" sz="1400" dirty="0" smtClean="0"/>
                  <a:t>1</a:t>
                </a:r>
                <a:endParaRPr lang="de-DE" sz="1400" dirty="0"/>
              </a:p>
            </p:txBody>
          </p:sp>
          <p:cxnSp>
            <p:nvCxnSpPr>
              <p:cNvPr id="58" name="Gerade Verbindung 57"/>
              <p:cNvCxnSpPr/>
              <p:nvPr/>
            </p:nvCxnSpPr>
            <p:spPr bwMode="auto">
              <a:xfrm>
                <a:off x="5737833" y="4125227"/>
                <a:ext cx="1099517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59" name="Gerade Verbindung 58"/>
              <p:cNvCxnSpPr/>
              <p:nvPr/>
            </p:nvCxnSpPr>
            <p:spPr bwMode="auto">
              <a:xfrm>
                <a:off x="5734266" y="3732291"/>
                <a:ext cx="1099517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0" name="Gerade Verbindung 59"/>
              <p:cNvCxnSpPr/>
              <p:nvPr/>
            </p:nvCxnSpPr>
            <p:spPr bwMode="auto">
              <a:xfrm>
                <a:off x="5734266" y="3347194"/>
                <a:ext cx="1099517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61" name="Textfeld 60"/>
              <p:cNvSpPr txBox="1"/>
              <p:nvPr/>
            </p:nvSpPr>
            <p:spPr>
              <a:xfrm>
                <a:off x="5417605" y="2845387"/>
                <a:ext cx="373820" cy="18774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400" dirty="0" smtClean="0">
                    <a:solidFill>
                      <a:schemeClr val="tx1"/>
                    </a:solidFill>
                  </a:rPr>
                  <a:t>0k</a:t>
                </a: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endParaRPr lang="de-DE" dirty="0">
                  <a:solidFill>
                    <a:schemeClr val="tx1"/>
                  </a:solidFill>
                </a:endParaRP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r>
                  <a:rPr lang="de-DE" sz="1400" dirty="0" smtClean="0">
                    <a:solidFill>
                      <a:schemeClr val="tx1"/>
                    </a:solidFill>
                  </a:rPr>
                  <a:t>8k</a:t>
                </a:r>
              </a:p>
            </p:txBody>
          </p:sp>
          <p:cxnSp>
            <p:nvCxnSpPr>
              <p:cNvPr id="62" name="Gerade Verbindung mit Pfeil 61"/>
              <p:cNvCxnSpPr/>
              <p:nvPr/>
            </p:nvCxnSpPr>
            <p:spPr bwMode="auto">
              <a:xfrm flipV="1">
                <a:off x="5579881" y="3280226"/>
                <a:ext cx="0" cy="940862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3" name="Gerade Verbindung mit Pfeil 62"/>
              <p:cNvCxnSpPr/>
              <p:nvPr/>
            </p:nvCxnSpPr>
            <p:spPr bwMode="auto">
              <a:xfrm flipV="1">
                <a:off x="6004731" y="4669038"/>
                <a:ext cx="601277" cy="2132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4" name="Gerade Verbindung mit Pfeil 63"/>
              <p:cNvCxnSpPr>
                <a:endCxn id="56" idx="0"/>
              </p:cNvCxnSpPr>
              <p:nvPr/>
            </p:nvCxnSpPr>
            <p:spPr bwMode="auto">
              <a:xfrm>
                <a:off x="3815718" y="1756526"/>
                <a:ext cx="2499722" cy="1196932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8000"/>
                </a:solidFill>
                <a:prstDash val="solid"/>
                <a:round/>
                <a:headEnd type="arrow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5" name="Gerade Verbindung 64"/>
              <p:cNvCxnSpPr/>
              <p:nvPr/>
            </p:nvCxnSpPr>
            <p:spPr bwMode="auto">
              <a:xfrm>
                <a:off x="5740030" y="2997401"/>
                <a:ext cx="1099517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66" name="Gerade Verbindung 65"/>
              <p:cNvCxnSpPr/>
              <p:nvPr/>
            </p:nvCxnSpPr>
            <p:spPr bwMode="auto">
              <a:xfrm>
                <a:off x="5732079" y="4532973"/>
                <a:ext cx="1099517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4" name="Textfeld 3"/>
            <p:cNvSpPr txBox="1"/>
            <p:nvPr/>
          </p:nvSpPr>
          <p:spPr>
            <a:xfrm>
              <a:off x="5868144" y="3844121"/>
              <a:ext cx="538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>
                  <a:solidFill>
                    <a:srgbClr val="006600"/>
                  </a:solidFill>
                </a:rPr>
                <a:t>tree</a:t>
              </a:r>
              <a:endParaRPr lang="de-DE" dirty="0">
                <a:solidFill>
                  <a:srgbClr val="006600"/>
                </a:solidFill>
              </a:endParaRPr>
            </a:p>
          </p:txBody>
        </p:sp>
        <p:sp>
          <p:nvSpPr>
            <p:cNvPr id="82" name="Textfeld 81"/>
            <p:cNvSpPr txBox="1"/>
            <p:nvPr/>
          </p:nvSpPr>
          <p:spPr>
            <a:xfrm>
              <a:off x="5747826" y="3434333"/>
              <a:ext cx="6976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>
                  <a:solidFill>
                    <a:srgbClr val="339933"/>
                  </a:solidFill>
                </a:rPr>
                <a:t>shrub</a:t>
              </a:r>
              <a:endParaRPr lang="de-DE" dirty="0">
                <a:solidFill>
                  <a:srgbClr val="339933"/>
                </a:solidFill>
              </a:endParaRPr>
            </a:p>
          </p:txBody>
        </p:sp>
        <p:sp>
          <p:nvSpPr>
            <p:cNvPr id="85" name="Textfeld 84"/>
            <p:cNvSpPr txBox="1"/>
            <p:nvPr/>
          </p:nvSpPr>
          <p:spPr>
            <a:xfrm>
              <a:off x="5753388" y="3059435"/>
              <a:ext cx="686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>
                  <a:solidFill>
                    <a:srgbClr val="99CC00"/>
                  </a:solidFill>
                </a:rPr>
                <a:t>grass</a:t>
              </a:r>
              <a:endParaRPr lang="de-DE" dirty="0">
                <a:solidFill>
                  <a:srgbClr val="99CC00"/>
                </a:solidFill>
              </a:endParaRPr>
            </a:p>
          </p:txBody>
        </p:sp>
        <p:sp>
          <p:nvSpPr>
            <p:cNvPr id="86" name="Textfeld 85"/>
            <p:cNvSpPr txBox="1"/>
            <p:nvPr/>
          </p:nvSpPr>
          <p:spPr>
            <a:xfrm>
              <a:off x="5860394" y="2708920"/>
              <a:ext cx="5725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smtClean="0">
                  <a:solidFill>
                    <a:srgbClr val="FFC000"/>
                  </a:solidFill>
                </a:rPr>
                <a:t>des.</a:t>
              </a:r>
              <a:endParaRPr lang="de-DE" dirty="0">
                <a:solidFill>
                  <a:srgbClr val="FFC000"/>
                </a:solidFill>
              </a:endParaRPr>
            </a:p>
          </p:txBody>
        </p:sp>
      </p:grpSp>
      <p:sp>
        <p:nvSpPr>
          <p:cNvPr id="27" name="Rechteck 26"/>
          <p:cNvSpPr/>
          <p:nvPr/>
        </p:nvSpPr>
        <p:spPr bwMode="auto">
          <a:xfrm>
            <a:off x="6660232" y="0"/>
            <a:ext cx="2464718" cy="692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" charset="-128"/>
            </a:endParaRPr>
          </a:p>
        </p:txBody>
      </p:sp>
      <p:sp>
        <p:nvSpPr>
          <p:cNvPr id="52" name="Textfeld 51"/>
          <p:cNvSpPr txBox="1"/>
          <p:nvPr/>
        </p:nvSpPr>
        <p:spPr>
          <a:xfrm>
            <a:off x="267286" y="188640"/>
            <a:ext cx="79063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 err="1" smtClean="0">
                <a:solidFill>
                  <a:srgbClr val="A50021"/>
                </a:solidFill>
                <a:cs typeface="Arial" panose="020B0604020202020204" pitchFamily="34" charset="0"/>
              </a:rPr>
              <a:t>Simulated</a:t>
            </a:r>
            <a:r>
              <a:rPr lang="de-DE" sz="2400" dirty="0" smtClean="0">
                <a:solidFill>
                  <a:srgbClr val="A50021"/>
                </a:solidFill>
                <a:cs typeface="Arial" panose="020B0604020202020204" pitchFamily="34" charset="0"/>
              </a:rPr>
              <a:t> </a:t>
            </a:r>
            <a:r>
              <a:rPr lang="de-DE" sz="2400" dirty="0" err="1" smtClean="0">
                <a:solidFill>
                  <a:srgbClr val="A50021"/>
                </a:solidFill>
                <a:cs typeface="Arial" panose="020B0604020202020204" pitchFamily="34" charset="0"/>
              </a:rPr>
              <a:t>Holocene</a:t>
            </a:r>
            <a:r>
              <a:rPr lang="de-DE" sz="2400" dirty="0" smtClean="0">
                <a:solidFill>
                  <a:srgbClr val="A50021"/>
                </a:solidFill>
                <a:cs typeface="Arial" panose="020B0604020202020204" pitchFamily="34" charset="0"/>
              </a:rPr>
              <a:t> Earth </a:t>
            </a:r>
            <a:r>
              <a:rPr lang="de-DE" sz="2400" dirty="0" err="1" smtClean="0">
                <a:solidFill>
                  <a:srgbClr val="A50021"/>
                </a:solidFill>
                <a:cs typeface="Arial" panose="020B0604020202020204" pitchFamily="34" charset="0"/>
              </a:rPr>
              <a:t>system</a:t>
            </a:r>
            <a:r>
              <a:rPr lang="de-DE" sz="2400" dirty="0" smtClean="0">
                <a:solidFill>
                  <a:srgbClr val="A50021"/>
                </a:solidFill>
                <a:cs typeface="Arial" panose="020B0604020202020204" pitchFamily="34" charset="0"/>
              </a:rPr>
              <a:t> </a:t>
            </a:r>
            <a:r>
              <a:rPr lang="de-DE" sz="2400" dirty="0" err="1" smtClean="0">
                <a:solidFill>
                  <a:srgbClr val="A50021"/>
                </a:solidFill>
                <a:cs typeface="Arial" panose="020B0604020202020204" pitchFamily="34" charset="0"/>
              </a:rPr>
              <a:t>variability</a:t>
            </a:r>
            <a:r>
              <a:rPr lang="de-DE" sz="2400" dirty="0" smtClean="0">
                <a:solidFill>
                  <a:srgbClr val="A50021"/>
                </a:solidFill>
                <a:cs typeface="Arial" panose="020B0604020202020204" pitchFamily="34" charset="0"/>
              </a:rPr>
              <a:t> (</a:t>
            </a:r>
            <a:r>
              <a:rPr lang="de-DE" sz="2400" dirty="0" err="1" smtClean="0">
                <a:solidFill>
                  <a:srgbClr val="A50021"/>
                </a:solidFill>
                <a:cs typeface="Arial" panose="020B0604020202020204" pitchFamily="34" charset="0"/>
              </a:rPr>
              <a:t>vegetation</a:t>
            </a:r>
            <a:r>
              <a:rPr lang="de-DE" sz="2400" dirty="0" smtClean="0">
                <a:solidFill>
                  <a:srgbClr val="A50021"/>
                </a:solidFill>
                <a:cs typeface="Arial" panose="020B0604020202020204" pitchFamily="34" charset="0"/>
              </a:rPr>
              <a:t>)</a:t>
            </a:r>
            <a:endParaRPr lang="de-DE" sz="2400" dirty="0">
              <a:solidFill>
                <a:srgbClr val="A50021"/>
              </a:solidFill>
              <a:cs typeface="Arial" panose="020B0604020202020204" pitchFamily="34" charset="0"/>
            </a:endParaRPr>
          </a:p>
        </p:txBody>
      </p:sp>
      <p:sp>
        <p:nvSpPr>
          <p:cNvPr id="2" name="Textfeld 1"/>
          <p:cNvSpPr txBox="1"/>
          <p:nvPr/>
        </p:nvSpPr>
        <p:spPr>
          <a:xfrm>
            <a:off x="251520" y="796642"/>
            <a:ext cx="86212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 smtClean="0"/>
              <a:t>…</a:t>
            </a:r>
            <a:r>
              <a:rPr lang="de-DE" sz="2000" dirty="0" err="1" smtClean="0"/>
              <a:t>some</a:t>
            </a:r>
            <a:r>
              <a:rPr lang="de-DE" sz="2000" dirty="0" smtClean="0"/>
              <a:t> 4500 „</a:t>
            </a:r>
            <a:r>
              <a:rPr lang="de-DE" sz="2000" dirty="0" err="1" smtClean="0"/>
              <a:t>virtual</a:t>
            </a:r>
            <a:r>
              <a:rPr lang="de-DE" sz="2000" dirty="0" smtClean="0"/>
              <a:t> </a:t>
            </a:r>
            <a:r>
              <a:rPr lang="de-DE" sz="2000" dirty="0" err="1" smtClean="0"/>
              <a:t>pollen</a:t>
            </a:r>
            <a:r>
              <a:rPr lang="de-DE" sz="2000" dirty="0" smtClean="0"/>
              <a:t> </a:t>
            </a:r>
            <a:r>
              <a:rPr lang="de-DE" sz="2000" dirty="0" err="1" smtClean="0"/>
              <a:t>records</a:t>
            </a:r>
            <a:r>
              <a:rPr lang="de-DE" sz="2000" dirty="0" smtClean="0"/>
              <a:t>“ (= </a:t>
            </a:r>
            <a:r>
              <a:rPr lang="de-DE" sz="2000" dirty="0" err="1" smtClean="0"/>
              <a:t>predicted</a:t>
            </a:r>
            <a:r>
              <a:rPr lang="de-DE" sz="2000" dirty="0" smtClean="0"/>
              <a:t> </a:t>
            </a:r>
            <a:r>
              <a:rPr lang="de-DE" sz="2000" dirty="0" err="1" smtClean="0"/>
              <a:t>vegetation</a:t>
            </a:r>
            <a:r>
              <a:rPr lang="de-DE" sz="2000" dirty="0" smtClean="0"/>
              <a:t> </a:t>
            </a:r>
            <a:r>
              <a:rPr lang="de-DE" sz="2000" dirty="0" err="1" smtClean="0"/>
              <a:t>cover</a:t>
            </a:r>
            <a:r>
              <a:rPr lang="de-DE" sz="2000" dirty="0" smtClean="0"/>
              <a:t> </a:t>
            </a:r>
            <a:r>
              <a:rPr lang="de-DE" sz="2000" dirty="0" err="1" smtClean="0"/>
              <a:t>fraction</a:t>
            </a:r>
            <a:r>
              <a:rPr lang="de-DE" sz="2000" dirty="0" smtClean="0"/>
              <a:t>)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327299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48680"/>
            <a:ext cx="8352928" cy="613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reihandform 7"/>
          <p:cNvSpPr/>
          <p:nvPr/>
        </p:nvSpPr>
        <p:spPr bwMode="auto">
          <a:xfrm>
            <a:off x="658368" y="2772461"/>
            <a:ext cx="5157216" cy="689281"/>
          </a:xfrm>
          <a:custGeom>
            <a:avLst/>
            <a:gdLst>
              <a:gd name="connsiteX0" fmla="*/ 0 w 5157216"/>
              <a:gd name="connsiteY0" fmla="*/ 0 h 689281"/>
              <a:gd name="connsiteX1" fmla="*/ 43891 w 5157216"/>
              <a:gd name="connsiteY1" fmla="*/ 21945 h 689281"/>
              <a:gd name="connsiteX2" fmla="*/ 117043 w 5157216"/>
              <a:gd name="connsiteY2" fmla="*/ 29261 h 689281"/>
              <a:gd name="connsiteX3" fmla="*/ 182880 w 5157216"/>
              <a:gd name="connsiteY3" fmla="*/ 36576 h 689281"/>
              <a:gd name="connsiteX4" fmla="*/ 204826 w 5157216"/>
              <a:gd name="connsiteY4" fmla="*/ 43891 h 689281"/>
              <a:gd name="connsiteX5" fmla="*/ 256032 w 5157216"/>
              <a:gd name="connsiteY5" fmla="*/ 73152 h 689281"/>
              <a:gd name="connsiteX6" fmla="*/ 299923 w 5157216"/>
              <a:gd name="connsiteY6" fmla="*/ 80467 h 689281"/>
              <a:gd name="connsiteX7" fmla="*/ 497434 w 5157216"/>
              <a:gd name="connsiteY7" fmla="*/ 95097 h 689281"/>
              <a:gd name="connsiteX8" fmla="*/ 563270 w 5157216"/>
              <a:gd name="connsiteY8" fmla="*/ 109728 h 689281"/>
              <a:gd name="connsiteX9" fmla="*/ 665683 w 5157216"/>
              <a:gd name="connsiteY9" fmla="*/ 117043 h 689281"/>
              <a:gd name="connsiteX10" fmla="*/ 753466 w 5157216"/>
              <a:gd name="connsiteY10" fmla="*/ 146304 h 689281"/>
              <a:gd name="connsiteX11" fmla="*/ 775411 w 5157216"/>
              <a:gd name="connsiteY11" fmla="*/ 153619 h 689281"/>
              <a:gd name="connsiteX12" fmla="*/ 877824 w 5157216"/>
              <a:gd name="connsiteY12" fmla="*/ 160934 h 689281"/>
              <a:gd name="connsiteX13" fmla="*/ 936346 w 5157216"/>
              <a:gd name="connsiteY13" fmla="*/ 175565 h 689281"/>
              <a:gd name="connsiteX14" fmla="*/ 1097280 w 5157216"/>
              <a:gd name="connsiteY14" fmla="*/ 190195 h 689281"/>
              <a:gd name="connsiteX15" fmla="*/ 1258214 w 5157216"/>
              <a:gd name="connsiteY15" fmla="*/ 197510 h 689281"/>
              <a:gd name="connsiteX16" fmla="*/ 1324051 w 5157216"/>
              <a:gd name="connsiteY16" fmla="*/ 219456 h 689281"/>
              <a:gd name="connsiteX17" fmla="*/ 1345997 w 5157216"/>
              <a:gd name="connsiteY17" fmla="*/ 226771 h 689281"/>
              <a:gd name="connsiteX18" fmla="*/ 1411834 w 5157216"/>
              <a:gd name="connsiteY18" fmla="*/ 241401 h 689281"/>
              <a:gd name="connsiteX19" fmla="*/ 1441094 w 5157216"/>
              <a:gd name="connsiteY19" fmla="*/ 248717 h 689281"/>
              <a:gd name="connsiteX20" fmla="*/ 1536192 w 5157216"/>
              <a:gd name="connsiteY20" fmla="*/ 256032 h 689281"/>
              <a:gd name="connsiteX21" fmla="*/ 1587398 w 5157216"/>
              <a:gd name="connsiteY21" fmla="*/ 263347 h 689281"/>
              <a:gd name="connsiteX22" fmla="*/ 1660550 w 5157216"/>
              <a:gd name="connsiteY22" fmla="*/ 285293 h 689281"/>
              <a:gd name="connsiteX23" fmla="*/ 1799539 w 5157216"/>
              <a:gd name="connsiteY23" fmla="*/ 299923 h 689281"/>
              <a:gd name="connsiteX24" fmla="*/ 1865376 w 5157216"/>
              <a:gd name="connsiteY24" fmla="*/ 314553 h 689281"/>
              <a:gd name="connsiteX25" fmla="*/ 1887322 w 5157216"/>
              <a:gd name="connsiteY25" fmla="*/ 321869 h 689281"/>
              <a:gd name="connsiteX26" fmla="*/ 1923898 w 5157216"/>
              <a:gd name="connsiteY26" fmla="*/ 329184 h 689281"/>
              <a:gd name="connsiteX27" fmla="*/ 1989734 w 5157216"/>
              <a:gd name="connsiteY27" fmla="*/ 358445 h 689281"/>
              <a:gd name="connsiteX28" fmla="*/ 2011680 w 5157216"/>
              <a:gd name="connsiteY28" fmla="*/ 365760 h 689281"/>
              <a:gd name="connsiteX29" fmla="*/ 2048256 w 5157216"/>
              <a:gd name="connsiteY29" fmla="*/ 395021 h 689281"/>
              <a:gd name="connsiteX30" fmla="*/ 2062886 w 5157216"/>
              <a:gd name="connsiteY30" fmla="*/ 416966 h 689281"/>
              <a:gd name="connsiteX31" fmla="*/ 2077517 w 5157216"/>
              <a:gd name="connsiteY31" fmla="*/ 431597 h 689281"/>
              <a:gd name="connsiteX32" fmla="*/ 2084832 w 5157216"/>
              <a:gd name="connsiteY32" fmla="*/ 453542 h 689281"/>
              <a:gd name="connsiteX33" fmla="*/ 2106778 w 5157216"/>
              <a:gd name="connsiteY33" fmla="*/ 460857 h 689281"/>
              <a:gd name="connsiteX34" fmla="*/ 2143354 w 5157216"/>
              <a:gd name="connsiteY34" fmla="*/ 482803 h 689281"/>
              <a:gd name="connsiteX35" fmla="*/ 2201875 w 5157216"/>
              <a:gd name="connsiteY35" fmla="*/ 534009 h 689281"/>
              <a:gd name="connsiteX36" fmla="*/ 2216506 w 5157216"/>
              <a:gd name="connsiteY36" fmla="*/ 548640 h 689281"/>
              <a:gd name="connsiteX37" fmla="*/ 2275027 w 5157216"/>
              <a:gd name="connsiteY37" fmla="*/ 563270 h 689281"/>
              <a:gd name="connsiteX38" fmla="*/ 2318918 w 5157216"/>
              <a:gd name="connsiteY38" fmla="*/ 577901 h 689281"/>
              <a:gd name="connsiteX39" fmla="*/ 2479853 w 5157216"/>
              <a:gd name="connsiteY39" fmla="*/ 592531 h 689281"/>
              <a:gd name="connsiteX40" fmla="*/ 2640787 w 5157216"/>
              <a:gd name="connsiteY40" fmla="*/ 607161 h 689281"/>
              <a:gd name="connsiteX41" fmla="*/ 2735885 w 5157216"/>
              <a:gd name="connsiteY41" fmla="*/ 621792 h 689281"/>
              <a:gd name="connsiteX42" fmla="*/ 2772461 w 5157216"/>
              <a:gd name="connsiteY42" fmla="*/ 629107 h 689281"/>
              <a:gd name="connsiteX43" fmla="*/ 2911450 w 5157216"/>
              <a:gd name="connsiteY43" fmla="*/ 636422 h 689281"/>
              <a:gd name="connsiteX44" fmla="*/ 3028493 w 5157216"/>
              <a:gd name="connsiteY44" fmla="*/ 643737 h 689281"/>
              <a:gd name="connsiteX45" fmla="*/ 3167482 w 5157216"/>
              <a:gd name="connsiteY45" fmla="*/ 658368 h 689281"/>
              <a:gd name="connsiteX46" fmla="*/ 3877056 w 5157216"/>
              <a:gd name="connsiteY46" fmla="*/ 658368 h 689281"/>
              <a:gd name="connsiteX47" fmla="*/ 3899002 w 5157216"/>
              <a:gd name="connsiteY47" fmla="*/ 651053 h 689281"/>
              <a:gd name="connsiteX48" fmla="*/ 3979469 w 5157216"/>
              <a:gd name="connsiteY48" fmla="*/ 643737 h 689281"/>
              <a:gd name="connsiteX49" fmla="*/ 4125773 w 5157216"/>
              <a:gd name="connsiteY49" fmla="*/ 629107 h 689281"/>
              <a:gd name="connsiteX50" fmla="*/ 4242816 w 5157216"/>
              <a:gd name="connsiteY50" fmla="*/ 614477 h 689281"/>
              <a:gd name="connsiteX51" fmla="*/ 4608576 w 5157216"/>
              <a:gd name="connsiteY51" fmla="*/ 599846 h 689281"/>
              <a:gd name="connsiteX52" fmla="*/ 4959706 w 5157216"/>
              <a:gd name="connsiteY52" fmla="*/ 585216 h 689281"/>
              <a:gd name="connsiteX53" fmla="*/ 5040173 w 5157216"/>
              <a:gd name="connsiteY53" fmla="*/ 577901 h 689281"/>
              <a:gd name="connsiteX54" fmla="*/ 5113325 w 5157216"/>
              <a:gd name="connsiteY54" fmla="*/ 563270 h 689281"/>
              <a:gd name="connsiteX55" fmla="*/ 5157216 w 5157216"/>
              <a:gd name="connsiteY55" fmla="*/ 555955 h 689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5157216" h="689281">
                <a:moveTo>
                  <a:pt x="0" y="0"/>
                </a:moveTo>
                <a:cubicBezTo>
                  <a:pt x="14630" y="7315"/>
                  <a:pt x="28022" y="17978"/>
                  <a:pt x="43891" y="21945"/>
                </a:cubicBezTo>
                <a:cubicBezTo>
                  <a:pt x="67665" y="27889"/>
                  <a:pt x="92672" y="26696"/>
                  <a:pt x="117043" y="29261"/>
                </a:cubicBezTo>
                <a:lnTo>
                  <a:pt x="182880" y="36576"/>
                </a:lnTo>
                <a:cubicBezTo>
                  <a:pt x="190195" y="39014"/>
                  <a:pt x="198131" y="40065"/>
                  <a:pt x="204826" y="43891"/>
                </a:cubicBezTo>
                <a:cubicBezTo>
                  <a:pt x="241516" y="64857"/>
                  <a:pt x="221722" y="65528"/>
                  <a:pt x="256032" y="73152"/>
                </a:cubicBezTo>
                <a:cubicBezTo>
                  <a:pt x="270511" y="76369"/>
                  <a:pt x="285221" y="78507"/>
                  <a:pt x="299923" y="80467"/>
                </a:cubicBezTo>
                <a:cubicBezTo>
                  <a:pt x="378156" y="90898"/>
                  <a:pt x="406014" y="90018"/>
                  <a:pt x="497434" y="95097"/>
                </a:cubicBezTo>
                <a:cubicBezTo>
                  <a:pt x="514187" y="99286"/>
                  <a:pt x="547220" y="108039"/>
                  <a:pt x="563270" y="109728"/>
                </a:cubicBezTo>
                <a:cubicBezTo>
                  <a:pt x="597307" y="113311"/>
                  <a:pt x="631545" y="114605"/>
                  <a:pt x="665683" y="117043"/>
                </a:cubicBezTo>
                <a:lnTo>
                  <a:pt x="753466" y="146304"/>
                </a:lnTo>
                <a:cubicBezTo>
                  <a:pt x="760781" y="148742"/>
                  <a:pt x="767720" y="153070"/>
                  <a:pt x="775411" y="153619"/>
                </a:cubicBezTo>
                <a:lnTo>
                  <a:pt x="877824" y="160934"/>
                </a:lnTo>
                <a:cubicBezTo>
                  <a:pt x="897331" y="165811"/>
                  <a:pt x="916338" y="173564"/>
                  <a:pt x="936346" y="175565"/>
                </a:cubicBezTo>
                <a:cubicBezTo>
                  <a:pt x="982973" y="180228"/>
                  <a:pt x="1051865" y="187524"/>
                  <a:pt x="1097280" y="190195"/>
                </a:cubicBezTo>
                <a:cubicBezTo>
                  <a:pt x="1150887" y="193348"/>
                  <a:pt x="1204569" y="195072"/>
                  <a:pt x="1258214" y="197510"/>
                </a:cubicBezTo>
                <a:lnTo>
                  <a:pt x="1324051" y="219456"/>
                </a:lnTo>
                <a:cubicBezTo>
                  <a:pt x="1331366" y="221894"/>
                  <a:pt x="1338516" y="224901"/>
                  <a:pt x="1345997" y="226771"/>
                </a:cubicBezTo>
                <a:cubicBezTo>
                  <a:pt x="1417404" y="244622"/>
                  <a:pt x="1328196" y="222814"/>
                  <a:pt x="1411834" y="241401"/>
                </a:cubicBezTo>
                <a:cubicBezTo>
                  <a:pt x="1421648" y="243582"/>
                  <a:pt x="1431109" y="247542"/>
                  <a:pt x="1441094" y="248717"/>
                </a:cubicBezTo>
                <a:cubicBezTo>
                  <a:pt x="1472669" y="252432"/>
                  <a:pt x="1504557" y="252869"/>
                  <a:pt x="1536192" y="256032"/>
                </a:cubicBezTo>
                <a:cubicBezTo>
                  <a:pt x="1553348" y="257748"/>
                  <a:pt x="1570329" y="260909"/>
                  <a:pt x="1587398" y="263347"/>
                </a:cubicBezTo>
                <a:cubicBezTo>
                  <a:pt x="1610286" y="270976"/>
                  <a:pt x="1636239" y="280873"/>
                  <a:pt x="1660550" y="285293"/>
                </a:cubicBezTo>
                <a:cubicBezTo>
                  <a:pt x="1709059" y="294113"/>
                  <a:pt x="1748667" y="295684"/>
                  <a:pt x="1799539" y="299923"/>
                </a:cubicBezTo>
                <a:cubicBezTo>
                  <a:pt x="1848948" y="316392"/>
                  <a:pt x="1788119" y="297384"/>
                  <a:pt x="1865376" y="314553"/>
                </a:cubicBezTo>
                <a:cubicBezTo>
                  <a:pt x="1872903" y="316226"/>
                  <a:pt x="1879841" y="319999"/>
                  <a:pt x="1887322" y="321869"/>
                </a:cubicBezTo>
                <a:cubicBezTo>
                  <a:pt x="1899384" y="324885"/>
                  <a:pt x="1911706" y="326746"/>
                  <a:pt x="1923898" y="329184"/>
                </a:cubicBezTo>
                <a:cubicBezTo>
                  <a:pt x="1958674" y="352368"/>
                  <a:pt x="1937504" y="341035"/>
                  <a:pt x="1989734" y="358445"/>
                </a:cubicBezTo>
                <a:lnTo>
                  <a:pt x="2011680" y="365760"/>
                </a:lnTo>
                <a:cubicBezTo>
                  <a:pt x="2053606" y="428649"/>
                  <a:pt x="1997780" y="354640"/>
                  <a:pt x="2048256" y="395021"/>
                </a:cubicBezTo>
                <a:cubicBezTo>
                  <a:pt x="2055121" y="400513"/>
                  <a:pt x="2057394" y="410101"/>
                  <a:pt x="2062886" y="416966"/>
                </a:cubicBezTo>
                <a:cubicBezTo>
                  <a:pt x="2067195" y="422352"/>
                  <a:pt x="2072640" y="426720"/>
                  <a:pt x="2077517" y="431597"/>
                </a:cubicBezTo>
                <a:cubicBezTo>
                  <a:pt x="2079955" y="438912"/>
                  <a:pt x="2079380" y="448090"/>
                  <a:pt x="2084832" y="453542"/>
                </a:cubicBezTo>
                <a:cubicBezTo>
                  <a:pt x="2090285" y="458994"/>
                  <a:pt x="2100166" y="456890"/>
                  <a:pt x="2106778" y="460857"/>
                </a:cubicBezTo>
                <a:cubicBezTo>
                  <a:pt x="2156985" y="490982"/>
                  <a:pt x="2081184" y="462081"/>
                  <a:pt x="2143354" y="482803"/>
                </a:cubicBezTo>
                <a:cubicBezTo>
                  <a:pt x="2184805" y="544982"/>
                  <a:pt x="2116534" y="448668"/>
                  <a:pt x="2201875" y="534009"/>
                </a:cubicBezTo>
                <a:cubicBezTo>
                  <a:pt x="2206752" y="538886"/>
                  <a:pt x="2210592" y="545091"/>
                  <a:pt x="2216506" y="548640"/>
                </a:cubicBezTo>
                <a:cubicBezTo>
                  <a:pt x="2228837" y="556039"/>
                  <a:pt x="2265413" y="560648"/>
                  <a:pt x="2275027" y="563270"/>
                </a:cubicBezTo>
                <a:cubicBezTo>
                  <a:pt x="2289905" y="567328"/>
                  <a:pt x="2304288" y="573024"/>
                  <a:pt x="2318918" y="577901"/>
                </a:cubicBezTo>
                <a:cubicBezTo>
                  <a:pt x="2385585" y="600124"/>
                  <a:pt x="2328904" y="583383"/>
                  <a:pt x="2479853" y="592531"/>
                </a:cubicBezTo>
                <a:cubicBezTo>
                  <a:pt x="2581367" y="598683"/>
                  <a:pt x="2560085" y="597073"/>
                  <a:pt x="2640787" y="607161"/>
                </a:cubicBezTo>
                <a:cubicBezTo>
                  <a:pt x="2701696" y="622390"/>
                  <a:pt x="2637594" y="607751"/>
                  <a:pt x="2735885" y="621792"/>
                </a:cubicBezTo>
                <a:cubicBezTo>
                  <a:pt x="2748193" y="623550"/>
                  <a:pt x="2760071" y="628074"/>
                  <a:pt x="2772461" y="629107"/>
                </a:cubicBezTo>
                <a:cubicBezTo>
                  <a:pt x="2818695" y="632960"/>
                  <a:pt x="2865132" y="633775"/>
                  <a:pt x="2911450" y="636422"/>
                </a:cubicBezTo>
                <a:lnTo>
                  <a:pt x="3028493" y="643737"/>
                </a:lnTo>
                <a:cubicBezTo>
                  <a:pt x="3059374" y="646113"/>
                  <a:pt x="3135174" y="654778"/>
                  <a:pt x="3167482" y="658368"/>
                </a:cubicBezTo>
                <a:cubicBezTo>
                  <a:pt x="3415616" y="720402"/>
                  <a:pt x="3212384" y="672215"/>
                  <a:pt x="3877056" y="658368"/>
                </a:cubicBezTo>
                <a:cubicBezTo>
                  <a:pt x="3884765" y="658207"/>
                  <a:pt x="3891369" y="652144"/>
                  <a:pt x="3899002" y="651053"/>
                </a:cubicBezTo>
                <a:cubicBezTo>
                  <a:pt x="3925664" y="647244"/>
                  <a:pt x="3952701" y="646711"/>
                  <a:pt x="3979469" y="643737"/>
                </a:cubicBezTo>
                <a:cubicBezTo>
                  <a:pt x="4138886" y="626023"/>
                  <a:pt x="3871984" y="648629"/>
                  <a:pt x="4125773" y="629107"/>
                </a:cubicBezTo>
                <a:cubicBezTo>
                  <a:pt x="4175323" y="612590"/>
                  <a:pt x="4150571" y="618870"/>
                  <a:pt x="4242816" y="614477"/>
                </a:cubicBezTo>
                <a:lnTo>
                  <a:pt x="4608576" y="599846"/>
                </a:lnTo>
                <a:cubicBezTo>
                  <a:pt x="4783366" y="580425"/>
                  <a:pt x="4590275" y="599993"/>
                  <a:pt x="4959706" y="585216"/>
                </a:cubicBezTo>
                <a:cubicBezTo>
                  <a:pt x="4986617" y="584140"/>
                  <a:pt x="5013351" y="580339"/>
                  <a:pt x="5040173" y="577901"/>
                </a:cubicBezTo>
                <a:cubicBezTo>
                  <a:pt x="5085239" y="562877"/>
                  <a:pt x="5039360" y="576718"/>
                  <a:pt x="5113325" y="563270"/>
                </a:cubicBezTo>
                <a:cubicBezTo>
                  <a:pt x="5160064" y="554772"/>
                  <a:pt x="5126349" y="555955"/>
                  <a:pt x="5157216" y="555955"/>
                </a:cubicBezTo>
              </a:path>
            </a:pathLst>
          </a:custGeom>
          <a:noFill/>
          <a:ln w="28575" cap="flat" cmpd="sng" algn="ctr">
            <a:solidFill>
              <a:srgbClr val="0066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" charset="-128"/>
            </a:endParaRPr>
          </a:p>
        </p:txBody>
      </p:sp>
      <p:sp>
        <p:nvSpPr>
          <p:cNvPr id="11" name="Freihandform 10"/>
          <p:cNvSpPr/>
          <p:nvPr/>
        </p:nvSpPr>
        <p:spPr bwMode="auto">
          <a:xfrm>
            <a:off x="658368" y="3928262"/>
            <a:ext cx="5171846" cy="958292"/>
          </a:xfrm>
          <a:custGeom>
            <a:avLst/>
            <a:gdLst>
              <a:gd name="connsiteX0" fmla="*/ 0 w 5171846"/>
              <a:gd name="connsiteY0" fmla="*/ 0 h 958292"/>
              <a:gd name="connsiteX1" fmla="*/ 51206 w 5171846"/>
              <a:gd name="connsiteY1" fmla="*/ 7316 h 958292"/>
              <a:gd name="connsiteX2" fmla="*/ 124358 w 5171846"/>
              <a:gd name="connsiteY2" fmla="*/ 14631 h 958292"/>
              <a:gd name="connsiteX3" fmla="*/ 182880 w 5171846"/>
              <a:gd name="connsiteY3" fmla="*/ 29261 h 958292"/>
              <a:gd name="connsiteX4" fmla="*/ 212141 w 5171846"/>
              <a:gd name="connsiteY4" fmla="*/ 36576 h 958292"/>
              <a:gd name="connsiteX5" fmla="*/ 234086 w 5171846"/>
              <a:gd name="connsiteY5" fmla="*/ 43892 h 958292"/>
              <a:gd name="connsiteX6" fmla="*/ 285293 w 5171846"/>
              <a:gd name="connsiteY6" fmla="*/ 51207 h 958292"/>
              <a:gd name="connsiteX7" fmla="*/ 307238 w 5171846"/>
              <a:gd name="connsiteY7" fmla="*/ 58522 h 958292"/>
              <a:gd name="connsiteX8" fmla="*/ 373075 w 5171846"/>
              <a:gd name="connsiteY8" fmla="*/ 73152 h 958292"/>
              <a:gd name="connsiteX9" fmla="*/ 395021 w 5171846"/>
              <a:gd name="connsiteY9" fmla="*/ 80468 h 958292"/>
              <a:gd name="connsiteX10" fmla="*/ 424282 w 5171846"/>
              <a:gd name="connsiteY10" fmla="*/ 87783 h 958292"/>
              <a:gd name="connsiteX11" fmla="*/ 446227 w 5171846"/>
              <a:gd name="connsiteY11" fmla="*/ 95098 h 958292"/>
              <a:gd name="connsiteX12" fmla="*/ 504749 w 5171846"/>
              <a:gd name="connsiteY12" fmla="*/ 109728 h 958292"/>
              <a:gd name="connsiteX13" fmla="*/ 519379 w 5171846"/>
              <a:gd name="connsiteY13" fmla="*/ 124359 h 958292"/>
              <a:gd name="connsiteX14" fmla="*/ 592531 w 5171846"/>
              <a:gd name="connsiteY14" fmla="*/ 138989 h 958292"/>
              <a:gd name="connsiteX15" fmla="*/ 621792 w 5171846"/>
              <a:gd name="connsiteY15" fmla="*/ 146304 h 958292"/>
              <a:gd name="connsiteX16" fmla="*/ 672998 w 5171846"/>
              <a:gd name="connsiteY16" fmla="*/ 175565 h 958292"/>
              <a:gd name="connsiteX17" fmla="*/ 724205 w 5171846"/>
              <a:gd name="connsiteY17" fmla="*/ 190196 h 958292"/>
              <a:gd name="connsiteX18" fmla="*/ 790042 w 5171846"/>
              <a:gd name="connsiteY18" fmla="*/ 212141 h 958292"/>
              <a:gd name="connsiteX19" fmla="*/ 811987 w 5171846"/>
              <a:gd name="connsiteY19" fmla="*/ 219456 h 958292"/>
              <a:gd name="connsiteX20" fmla="*/ 848563 w 5171846"/>
              <a:gd name="connsiteY20" fmla="*/ 226772 h 958292"/>
              <a:gd name="connsiteX21" fmla="*/ 870509 w 5171846"/>
              <a:gd name="connsiteY21" fmla="*/ 241402 h 958292"/>
              <a:gd name="connsiteX22" fmla="*/ 929030 w 5171846"/>
              <a:gd name="connsiteY22" fmla="*/ 256032 h 958292"/>
              <a:gd name="connsiteX23" fmla="*/ 943661 w 5171846"/>
              <a:gd name="connsiteY23" fmla="*/ 270663 h 958292"/>
              <a:gd name="connsiteX24" fmla="*/ 1016813 w 5171846"/>
              <a:gd name="connsiteY24" fmla="*/ 292608 h 958292"/>
              <a:gd name="connsiteX25" fmla="*/ 1097280 w 5171846"/>
              <a:gd name="connsiteY25" fmla="*/ 321869 h 958292"/>
              <a:gd name="connsiteX26" fmla="*/ 1207008 w 5171846"/>
              <a:gd name="connsiteY26" fmla="*/ 343815 h 958292"/>
              <a:gd name="connsiteX27" fmla="*/ 1287475 w 5171846"/>
              <a:gd name="connsiteY27" fmla="*/ 365760 h 958292"/>
              <a:gd name="connsiteX28" fmla="*/ 1316736 w 5171846"/>
              <a:gd name="connsiteY28" fmla="*/ 373076 h 958292"/>
              <a:gd name="connsiteX29" fmla="*/ 1389888 w 5171846"/>
              <a:gd name="connsiteY29" fmla="*/ 395021 h 958292"/>
              <a:gd name="connsiteX30" fmla="*/ 1411834 w 5171846"/>
              <a:gd name="connsiteY30" fmla="*/ 402336 h 958292"/>
              <a:gd name="connsiteX31" fmla="*/ 1477670 w 5171846"/>
              <a:gd name="connsiteY31" fmla="*/ 409652 h 958292"/>
              <a:gd name="connsiteX32" fmla="*/ 1514246 w 5171846"/>
              <a:gd name="connsiteY32" fmla="*/ 424282 h 958292"/>
              <a:gd name="connsiteX33" fmla="*/ 1645920 w 5171846"/>
              <a:gd name="connsiteY33" fmla="*/ 446228 h 958292"/>
              <a:gd name="connsiteX34" fmla="*/ 1667866 w 5171846"/>
              <a:gd name="connsiteY34" fmla="*/ 453543 h 958292"/>
              <a:gd name="connsiteX35" fmla="*/ 1733702 w 5171846"/>
              <a:gd name="connsiteY35" fmla="*/ 468173 h 958292"/>
              <a:gd name="connsiteX36" fmla="*/ 1777594 w 5171846"/>
              <a:gd name="connsiteY36" fmla="*/ 482804 h 958292"/>
              <a:gd name="connsiteX37" fmla="*/ 1858061 w 5171846"/>
              <a:gd name="connsiteY37" fmla="*/ 490119 h 958292"/>
              <a:gd name="connsiteX38" fmla="*/ 1923898 w 5171846"/>
              <a:gd name="connsiteY38" fmla="*/ 512064 h 958292"/>
              <a:gd name="connsiteX39" fmla="*/ 1945843 w 5171846"/>
              <a:gd name="connsiteY39" fmla="*/ 519380 h 958292"/>
              <a:gd name="connsiteX40" fmla="*/ 2011680 w 5171846"/>
              <a:gd name="connsiteY40" fmla="*/ 526695 h 958292"/>
              <a:gd name="connsiteX41" fmla="*/ 2055571 w 5171846"/>
              <a:gd name="connsiteY41" fmla="*/ 541325 h 958292"/>
              <a:gd name="connsiteX42" fmla="*/ 2077517 w 5171846"/>
              <a:gd name="connsiteY42" fmla="*/ 548640 h 958292"/>
              <a:gd name="connsiteX43" fmla="*/ 2121408 w 5171846"/>
              <a:gd name="connsiteY43" fmla="*/ 555956 h 958292"/>
              <a:gd name="connsiteX44" fmla="*/ 2223821 w 5171846"/>
              <a:gd name="connsiteY44" fmla="*/ 570586 h 958292"/>
              <a:gd name="connsiteX45" fmla="*/ 2296973 w 5171846"/>
              <a:gd name="connsiteY45" fmla="*/ 585216 h 958292"/>
              <a:gd name="connsiteX46" fmla="*/ 2348179 w 5171846"/>
              <a:gd name="connsiteY46" fmla="*/ 599847 h 958292"/>
              <a:gd name="connsiteX47" fmla="*/ 2406701 w 5171846"/>
              <a:gd name="connsiteY47" fmla="*/ 614477 h 958292"/>
              <a:gd name="connsiteX48" fmla="*/ 2428646 w 5171846"/>
              <a:gd name="connsiteY48" fmla="*/ 621792 h 958292"/>
              <a:gd name="connsiteX49" fmla="*/ 2465222 w 5171846"/>
              <a:gd name="connsiteY49" fmla="*/ 629108 h 958292"/>
              <a:gd name="connsiteX50" fmla="*/ 2487168 w 5171846"/>
              <a:gd name="connsiteY50" fmla="*/ 636423 h 958292"/>
              <a:gd name="connsiteX51" fmla="*/ 2531059 w 5171846"/>
              <a:gd name="connsiteY51" fmla="*/ 643738 h 958292"/>
              <a:gd name="connsiteX52" fmla="*/ 2553005 w 5171846"/>
              <a:gd name="connsiteY52" fmla="*/ 651053 h 958292"/>
              <a:gd name="connsiteX53" fmla="*/ 2640787 w 5171846"/>
              <a:gd name="connsiteY53" fmla="*/ 665684 h 958292"/>
              <a:gd name="connsiteX54" fmla="*/ 2699309 w 5171846"/>
              <a:gd name="connsiteY54" fmla="*/ 680314 h 958292"/>
              <a:gd name="connsiteX55" fmla="*/ 2743200 w 5171846"/>
              <a:gd name="connsiteY55" fmla="*/ 694944 h 958292"/>
              <a:gd name="connsiteX56" fmla="*/ 2779776 w 5171846"/>
              <a:gd name="connsiteY56" fmla="*/ 702260 h 958292"/>
              <a:gd name="connsiteX57" fmla="*/ 2809037 w 5171846"/>
              <a:gd name="connsiteY57" fmla="*/ 709575 h 958292"/>
              <a:gd name="connsiteX58" fmla="*/ 2904134 w 5171846"/>
              <a:gd name="connsiteY58" fmla="*/ 716890 h 958292"/>
              <a:gd name="connsiteX59" fmla="*/ 2948026 w 5171846"/>
              <a:gd name="connsiteY59" fmla="*/ 724205 h 958292"/>
              <a:gd name="connsiteX60" fmla="*/ 2984602 w 5171846"/>
              <a:gd name="connsiteY60" fmla="*/ 731520 h 958292"/>
              <a:gd name="connsiteX61" fmla="*/ 3035808 w 5171846"/>
              <a:gd name="connsiteY61" fmla="*/ 738836 h 958292"/>
              <a:gd name="connsiteX62" fmla="*/ 3591763 w 5171846"/>
              <a:gd name="connsiteY62" fmla="*/ 731520 h 958292"/>
              <a:gd name="connsiteX63" fmla="*/ 3920947 w 5171846"/>
              <a:gd name="connsiteY63" fmla="*/ 746151 h 958292"/>
              <a:gd name="connsiteX64" fmla="*/ 4052621 w 5171846"/>
              <a:gd name="connsiteY64" fmla="*/ 753466 h 958292"/>
              <a:gd name="connsiteX65" fmla="*/ 4118458 w 5171846"/>
              <a:gd name="connsiteY65" fmla="*/ 768096 h 958292"/>
              <a:gd name="connsiteX66" fmla="*/ 4198925 w 5171846"/>
              <a:gd name="connsiteY66" fmla="*/ 790042 h 958292"/>
              <a:gd name="connsiteX67" fmla="*/ 4272077 w 5171846"/>
              <a:gd name="connsiteY67" fmla="*/ 826618 h 958292"/>
              <a:gd name="connsiteX68" fmla="*/ 4294022 w 5171846"/>
              <a:gd name="connsiteY68" fmla="*/ 833933 h 958292"/>
              <a:gd name="connsiteX69" fmla="*/ 4315968 w 5171846"/>
              <a:gd name="connsiteY69" fmla="*/ 848564 h 958292"/>
              <a:gd name="connsiteX70" fmla="*/ 4367174 w 5171846"/>
              <a:gd name="connsiteY70" fmla="*/ 863194 h 958292"/>
              <a:gd name="connsiteX71" fmla="*/ 4381805 w 5171846"/>
              <a:gd name="connsiteY71" fmla="*/ 877824 h 958292"/>
              <a:gd name="connsiteX72" fmla="*/ 4411066 w 5171846"/>
              <a:gd name="connsiteY72" fmla="*/ 885140 h 958292"/>
              <a:gd name="connsiteX73" fmla="*/ 4506163 w 5171846"/>
              <a:gd name="connsiteY73" fmla="*/ 899770 h 958292"/>
              <a:gd name="connsiteX74" fmla="*/ 4528109 w 5171846"/>
              <a:gd name="connsiteY74" fmla="*/ 907085 h 958292"/>
              <a:gd name="connsiteX75" fmla="*/ 4579315 w 5171846"/>
              <a:gd name="connsiteY75" fmla="*/ 921716 h 958292"/>
              <a:gd name="connsiteX76" fmla="*/ 4637837 w 5171846"/>
              <a:gd name="connsiteY76" fmla="*/ 943661 h 958292"/>
              <a:gd name="connsiteX77" fmla="*/ 4886554 w 5171846"/>
              <a:gd name="connsiteY77" fmla="*/ 958292 h 958292"/>
              <a:gd name="connsiteX78" fmla="*/ 5098694 w 5171846"/>
              <a:gd name="connsiteY78" fmla="*/ 950976 h 958292"/>
              <a:gd name="connsiteX79" fmla="*/ 5171846 w 5171846"/>
              <a:gd name="connsiteY79" fmla="*/ 943661 h 958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5171846" h="958292">
                <a:moveTo>
                  <a:pt x="0" y="0"/>
                </a:moveTo>
                <a:cubicBezTo>
                  <a:pt x="17069" y="2439"/>
                  <a:pt x="34082" y="5301"/>
                  <a:pt x="51206" y="7316"/>
                </a:cubicBezTo>
                <a:cubicBezTo>
                  <a:pt x="75544" y="10179"/>
                  <a:pt x="100067" y="11392"/>
                  <a:pt x="124358" y="14631"/>
                </a:cubicBezTo>
                <a:cubicBezTo>
                  <a:pt x="166186" y="20208"/>
                  <a:pt x="150571" y="20030"/>
                  <a:pt x="182880" y="29261"/>
                </a:cubicBezTo>
                <a:cubicBezTo>
                  <a:pt x="192547" y="32023"/>
                  <a:pt x="202474" y="33814"/>
                  <a:pt x="212141" y="36576"/>
                </a:cubicBezTo>
                <a:cubicBezTo>
                  <a:pt x="219555" y="38694"/>
                  <a:pt x="226525" y="42380"/>
                  <a:pt x="234086" y="43892"/>
                </a:cubicBezTo>
                <a:cubicBezTo>
                  <a:pt x="250993" y="47274"/>
                  <a:pt x="268224" y="48769"/>
                  <a:pt x="285293" y="51207"/>
                </a:cubicBezTo>
                <a:cubicBezTo>
                  <a:pt x="292608" y="53645"/>
                  <a:pt x="299758" y="56652"/>
                  <a:pt x="307238" y="58522"/>
                </a:cubicBezTo>
                <a:cubicBezTo>
                  <a:pt x="367550" y="73600"/>
                  <a:pt x="320531" y="58139"/>
                  <a:pt x="373075" y="73152"/>
                </a:cubicBezTo>
                <a:cubicBezTo>
                  <a:pt x="380489" y="75270"/>
                  <a:pt x="387607" y="78350"/>
                  <a:pt x="395021" y="80468"/>
                </a:cubicBezTo>
                <a:cubicBezTo>
                  <a:pt x="404688" y="83230"/>
                  <a:pt x="414615" y="85021"/>
                  <a:pt x="424282" y="87783"/>
                </a:cubicBezTo>
                <a:cubicBezTo>
                  <a:pt x="431696" y="89901"/>
                  <a:pt x="438747" y="93228"/>
                  <a:pt x="446227" y="95098"/>
                </a:cubicBezTo>
                <a:lnTo>
                  <a:pt x="504749" y="109728"/>
                </a:lnTo>
                <a:cubicBezTo>
                  <a:pt x="509626" y="114605"/>
                  <a:pt x="513465" y="120811"/>
                  <a:pt x="519379" y="124359"/>
                </a:cubicBezTo>
                <a:cubicBezTo>
                  <a:pt x="535707" y="134156"/>
                  <a:pt x="582829" y="137225"/>
                  <a:pt x="592531" y="138989"/>
                </a:cubicBezTo>
                <a:cubicBezTo>
                  <a:pt x="602423" y="140787"/>
                  <a:pt x="612038" y="143866"/>
                  <a:pt x="621792" y="146304"/>
                </a:cubicBezTo>
                <a:cubicBezTo>
                  <a:pt x="643831" y="160997"/>
                  <a:pt x="647012" y="164428"/>
                  <a:pt x="672998" y="175565"/>
                </a:cubicBezTo>
                <a:cubicBezTo>
                  <a:pt x="693117" y="184187"/>
                  <a:pt x="702281" y="183450"/>
                  <a:pt x="724205" y="190196"/>
                </a:cubicBezTo>
                <a:cubicBezTo>
                  <a:pt x="746315" y="196999"/>
                  <a:pt x="768096" y="204826"/>
                  <a:pt x="790042" y="212141"/>
                </a:cubicBezTo>
                <a:cubicBezTo>
                  <a:pt x="797357" y="214579"/>
                  <a:pt x="804426" y="217944"/>
                  <a:pt x="811987" y="219456"/>
                </a:cubicBezTo>
                <a:lnTo>
                  <a:pt x="848563" y="226772"/>
                </a:lnTo>
                <a:cubicBezTo>
                  <a:pt x="855878" y="231649"/>
                  <a:pt x="862246" y="238398"/>
                  <a:pt x="870509" y="241402"/>
                </a:cubicBezTo>
                <a:cubicBezTo>
                  <a:pt x="889406" y="248273"/>
                  <a:pt x="929030" y="256032"/>
                  <a:pt x="929030" y="256032"/>
                </a:cubicBezTo>
                <a:cubicBezTo>
                  <a:pt x="933907" y="260909"/>
                  <a:pt x="937492" y="267579"/>
                  <a:pt x="943661" y="270663"/>
                </a:cubicBezTo>
                <a:cubicBezTo>
                  <a:pt x="977580" y="287623"/>
                  <a:pt x="985310" y="282107"/>
                  <a:pt x="1016813" y="292608"/>
                </a:cubicBezTo>
                <a:cubicBezTo>
                  <a:pt x="1060460" y="307157"/>
                  <a:pt x="1049444" y="309910"/>
                  <a:pt x="1097280" y="321869"/>
                </a:cubicBezTo>
                <a:cubicBezTo>
                  <a:pt x="1172529" y="340682"/>
                  <a:pt x="1135896" y="333656"/>
                  <a:pt x="1207008" y="343815"/>
                </a:cubicBezTo>
                <a:cubicBezTo>
                  <a:pt x="1248033" y="357489"/>
                  <a:pt x="1221465" y="349257"/>
                  <a:pt x="1287475" y="365760"/>
                </a:cubicBezTo>
                <a:cubicBezTo>
                  <a:pt x="1297229" y="368198"/>
                  <a:pt x="1307198" y="369897"/>
                  <a:pt x="1316736" y="373076"/>
                </a:cubicBezTo>
                <a:cubicBezTo>
                  <a:pt x="1421032" y="407841"/>
                  <a:pt x="1312504" y="372912"/>
                  <a:pt x="1389888" y="395021"/>
                </a:cubicBezTo>
                <a:cubicBezTo>
                  <a:pt x="1397302" y="397139"/>
                  <a:pt x="1404228" y="401068"/>
                  <a:pt x="1411834" y="402336"/>
                </a:cubicBezTo>
                <a:cubicBezTo>
                  <a:pt x="1433614" y="405966"/>
                  <a:pt x="1455725" y="407213"/>
                  <a:pt x="1477670" y="409652"/>
                </a:cubicBezTo>
                <a:cubicBezTo>
                  <a:pt x="1489862" y="414529"/>
                  <a:pt x="1501507" y="421097"/>
                  <a:pt x="1514246" y="424282"/>
                </a:cubicBezTo>
                <a:cubicBezTo>
                  <a:pt x="1549663" y="433136"/>
                  <a:pt x="1606947" y="440660"/>
                  <a:pt x="1645920" y="446228"/>
                </a:cubicBezTo>
                <a:cubicBezTo>
                  <a:pt x="1653235" y="448666"/>
                  <a:pt x="1660385" y="451673"/>
                  <a:pt x="1667866" y="453543"/>
                </a:cubicBezTo>
                <a:cubicBezTo>
                  <a:pt x="1709623" y="463982"/>
                  <a:pt x="1696162" y="456911"/>
                  <a:pt x="1733702" y="468173"/>
                </a:cubicBezTo>
                <a:cubicBezTo>
                  <a:pt x="1748474" y="472605"/>
                  <a:pt x="1762235" y="481408"/>
                  <a:pt x="1777594" y="482804"/>
                </a:cubicBezTo>
                <a:lnTo>
                  <a:pt x="1858061" y="490119"/>
                </a:lnTo>
                <a:lnTo>
                  <a:pt x="1923898" y="512064"/>
                </a:lnTo>
                <a:cubicBezTo>
                  <a:pt x="1931213" y="514502"/>
                  <a:pt x="1938179" y="518529"/>
                  <a:pt x="1945843" y="519380"/>
                </a:cubicBezTo>
                <a:lnTo>
                  <a:pt x="2011680" y="526695"/>
                </a:lnTo>
                <a:lnTo>
                  <a:pt x="2055571" y="541325"/>
                </a:lnTo>
                <a:cubicBezTo>
                  <a:pt x="2062886" y="543763"/>
                  <a:pt x="2069911" y="547372"/>
                  <a:pt x="2077517" y="548640"/>
                </a:cubicBezTo>
                <a:lnTo>
                  <a:pt x="2121408" y="555956"/>
                </a:lnTo>
                <a:cubicBezTo>
                  <a:pt x="2155511" y="561071"/>
                  <a:pt x="2190366" y="562223"/>
                  <a:pt x="2223821" y="570586"/>
                </a:cubicBezTo>
                <a:cubicBezTo>
                  <a:pt x="2291804" y="587581"/>
                  <a:pt x="2207268" y="567274"/>
                  <a:pt x="2296973" y="585216"/>
                </a:cubicBezTo>
                <a:cubicBezTo>
                  <a:pt x="2342660" y="594354"/>
                  <a:pt x="2309835" y="589390"/>
                  <a:pt x="2348179" y="599847"/>
                </a:cubicBezTo>
                <a:cubicBezTo>
                  <a:pt x="2367578" y="605138"/>
                  <a:pt x="2387625" y="608118"/>
                  <a:pt x="2406701" y="614477"/>
                </a:cubicBezTo>
                <a:cubicBezTo>
                  <a:pt x="2414016" y="616915"/>
                  <a:pt x="2421166" y="619922"/>
                  <a:pt x="2428646" y="621792"/>
                </a:cubicBezTo>
                <a:cubicBezTo>
                  <a:pt x="2440708" y="624808"/>
                  <a:pt x="2453160" y="626092"/>
                  <a:pt x="2465222" y="629108"/>
                </a:cubicBezTo>
                <a:cubicBezTo>
                  <a:pt x="2472703" y="630978"/>
                  <a:pt x="2479641" y="634750"/>
                  <a:pt x="2487168" y="636423"/>
                </a:cubicBezTo>
                <a:cubicBezTo>
                  <a:pt x="2501647" y="639640"/>
                  <a:pt x="2516580" y="640521"/>
                  <a:pt x="2531059" y="643738"/>
                </a:cubicBezTo>
                <a:cubicBezTo>
                  <a:pt x="2538586" y="645411"/>
                  <a:pt x="2545444" y="649541"/>
                  <a:pt x="2553005" y="651053"/>
                </a:cubicBezTo>
                <a:cubicBezTo>
                  <a:pt x="2660335" y="672518"/>
                  <a:pt x="2555707" y="646050"/>
                  <a:pt x="2640787" y="665684"/>
                </a:cubicBezTo>
                <a:cubicBezTo>
                  <a:pt x="2660380" y="670205"/>
                  <a:pt x="2680233" y="673956"/>
                  <a:pt x="2699309" y="680314"/>
                </a:cubicBezTo>
                <a:cubicBezTo>
                  <a:pt x="2713939" y="685191"/>
                  <a:pt x="2728078" y="691919"/>
                  <a:pt x="2743200" y="694944"/>
                </a:cubicBezTo>
                <a:cubicBezTo>
                  <a:pt x="2755392" y="697383"/>
                  <a:pt x="2767639" y="699563"/>
                  <a:pt x="2779776" y="702260"/>
                </a:cubicBezTo>
                <a:cubicBezTo>
                  <a:pt x="2789590" y="704441"/>
                  <a:pt x="2799052" y="708400"/>
                  <a:pt x="2809037" y="709575"/>
                </a:cubicBezTo>
                <a:cubicBezTo>
                  <a:pt x="2840612" y="713290"/>
                  <a:pt x="2872435" y="714452"/>
                  <a:pt x="2904134" y="716890"/>
                </a:cubicBezTo>
                <a:lnTo>
                  <a:pt x="2948026" y="724205"/>
                </a:lnTo>
                <a:cubicBezTo>
                  <a:pt x="2960259" y="726429"/>
                  <a:pt x="2972338" y="729476"/>
                  <a:pt x="2984602" y="731520"/>
                </a:cubicBezTo>
                <a:cubicBezTo>
                  <a:pt x="3001609" y="734355"/>
                  <a:pt x="3018739" y="736397"/>
                  <a:pt x="3035808" y="738836"/>
                </a:cubicBezTo>
                <a:lnTo>
                  <a:pt x="3591763" y="731520"/>
                </a:lnTo>
                <a:cubicBezTo>
                  <a:pt x="3810497" y="731520"/>
                  <a:pt x="3767207" y="736233"/>
                  <a:pt x="3920947" y="746151"/>
                </a:cubicBezTo>
                <a:lnTo>
                  <a:pt x="4052621" y="753466"/>
                </a:lnTo>
                <a:cubicBezTo>
                  <a:pt x="4143689" y="768644"/>
                  <a:pt x="4061869" y="752662"/>
                  <a:pt x="4118458" y="768096"/>
                </a:cubicBezTo>
                <a:cubicBezTo>
                  <a:pt x="4209211" y="792847"/>
                  <a:pt x="4148411" y="773205"/>
                  <a:pt x="4198925" y="790042"/>
                </a:cubicBezTo>
                <a:cubicBezTo>
                  <a:pt x="4240524" y="821241"/>
                  <a:pt x="4216619" y="808132"/>
                  <a:pt x="4272077" y="826618"/>
                </a:cubicBezTo>
                <a:lnTo>
                  <a:pt x="4294022" y="833933"/>
                </a:lnTo>
                <a:cubicBezTo>
                  <a:pt x="4301337" y="838810"/>
                  <a:pt x="4308104" y="844632"/>
                  <a:pt x="4315968" y="848564"/>
                </a:cubicBezTo>
                <a:cubicBezTo>
                  <a:pt x="4326461" y="853810"/>
                  <a:pt x="4357801" y="860851"/>
                  <a:pt x="4367174" y="863194"/>
                </a:cubicBezTo>
                <a:cubicBezTo>
                  <a:pt x="4372051" y="868071"/>
                  <a:pt x="4375636" y="874740"/>
                  <a:pt x="4381805" y="877824"/>
                </a:cubicBezTo>
                <a:cubicBezTo>
                  <a:pt x="4390797" y="882320"/>
                  <a:pt x="4401252" y="882959"/>
                  <a:pt x="4411066" y="885140"/>
                </a:cubicBezTo>
                <a:cubicBezTo>
                  <a:pt x="4454146" y="894714"/>
                  <a:pt x="4455500" y="893437"/>
                  <a:pt x="4506163" y="899770"/>
                </a:cubicBezTo>
                <a:cubicBezTo>
                  <a:pt x="4513478" y="902208"/>
                  <a:pt x="4520695" y="904967"/>
                  <a:pt x="4528109" y="907085"/>
                </a:cubicBezTo>
                <a:cubicBezTo>
                  <a:pt x="4546682" y="912391"/>
                  <a:pt x="4561767" y="914195"/>
                  <a:pt x="4579315" y="921716"/>
                </a:cubicBezTo>
                <a:cubicBezTo>
                  <a:pt x="4607268" y="933696"/>
                  <a:pt x="4607494" y="940290"/>
                  <a:pt x="4637837" y="943661"/>
                </a:cubicBezTo>
                <a:cubicBezTo>
                  <a:pt x="4690815" y="949547"/>
                  <a:pt x="4846086" y="956268"/>
                  <a:pt x="4886554" y="958292"/>
                </a:cubicBezTo>
                <a:cubicBezTo>
                  <a:pt x="4957267" y="955853"/>
                  <a:pt x="5028054" y="955013"/>
                  <a:pt x="5098694" y="950976"/>
                </a:cubicBezTo>
                <a:cubicBezTo>
                  <a:pt x="5254759" y="942058"/>
                  <a:pt x="5060318" y="943661"/>
                  <a:pt x="5171846" y="943661"/>
                </a:cubicBezTo>
              </a:path>
            </a:pathLst>
          </a:custGeom>
          <a:noFill/>
          <a:ln w="28575" cap="flat" cmpd="sng" algn="ctr">
            <a:solidFill>
              <a:srgbClr val="006600"/>
            </a:solidFill>
            <a:prstDash val="lg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ヒラギノ角ゴ Pro W3" pitchFamily="1" charset="-128"/>
            </a:endParaRPr>
          </a:p>
        </p:txBody>
      </p:sp>
      <p:grpSp>
        <p:nvGrpSpPr>
          <p:cNvPr id="72" name="Gruppieren 71"/>
          <p:cNvGrpSpPr/>
          <p:nvPr/>
        </p:nvGrpSpPr>
        <p:grpSpPr>
          <a:xfrm>
            <a:off x="139372" y="404664"/>
            <a:ext cx="2219430" cy="3312368"/>
            <a:chOff x="1072806" y="1237228"/>
            <a:chExt cx="2219430" cy="3312368"/>
          </a:xfrm>
        </p:grpSpPr>
        <p:grpSp>
          <p:nvGrpSpPr>
            <p:cNvPr id="73" name="Gruppieren 72"/>
            <p:cNvGrpSpPr/>
            <p:nvPr/>
          </p:nvGrpSpPr>
          <p:grpSpPr>
            <a:xfrm>
              <a:off x="1072806" y="1237228"/>
              <a:ext cx="2219430" cy="2628925"/>
              <a:chOff x="1072806" y="1237228"/>
              <a:chExt cx="2219430" cy="2628925"/>
            </a:xfrm>
          </p:grpSpPr>
          <p:sp>
            <p:nvSpPr>
              <p:cNvPr id="75" name="Textfeld 74"/>
              <p:cNvSpPr txBox="1"/>
              <p:nvPr/>
            </p:nvSpPr>
            <p:spPr>
              <a:xfrm>
                <a:off x="1483355" y="3210705"/>
                <a:ext cx="180209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smtClean="0"/>
                  <a:t>0               1</a:t>
                </a:r>
                <a:endParaRPr lang="de-DE" sz="2400" dirty="0"/>
              </a:p>
            </p:txBody>
          </p:sp>
          <p:grpSp>
            <p:nvGrpSpPr>
              <p:cNvPr id="76" name="Gruppieren 75"/>
              <p:cNvGrpSpPr/>
              <p:nvPr/>
            </p:nvGrpSpPr>
            <p:grpSpPr>
              <a:xfrm>
                <a:off x="1547664" y="1323485"/>
                <a:ext cx="1739743" cy="2004568"/>
                <a:chOff x="1219877" y="1340373"/>
                <a:chExt cx="2272003" cy="3179052"/>
              </a:xfrm>
            </p:grpSpPr>
            <p:pic>
              <p:nvPicPr>
                <p:cNvPr id="81" name="Picture 4"/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59632" y="1340373"/>
                  <a:ext cx="2232248" cy="31790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82" name="Gerade Verbindung 81"/>
                <p:cNvCxnSpPr/>
                <p:nvPr/>
              </p:nvCxnSpPr>
              <p:spPr bwMode="auto">
                <a:xfrm>
                  <a:off x="1226862" y="3648172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3" name="Gerade Verbindung 82"/>
                <p:cNvCxnSpPr/>
                <p:nvPr/>
              </p:nvCxnSpPr>
              <p:spPr bwMode="auto">
                <a:xfrm>
                  <a:off x="1219877" y="2878893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4" name="Gerade Verbindung 83"/>
                <p:cNvCxnSpPr/>
                <p:nvPr/>
              </p:nvCxnSpPr>
              <p:spPr bwMode="auto">
                <a:xfrm>
                  <a:off x="1219877" y="2124959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5" name="Gerade Verbindung 84"/>
                <p:cNvCxnSpPr/>
                <p:nvPr/>
              </p:nvCxnSpPr>
              <p:spPr bwMode="auto">
                <a:xfrm>
                  <a:off x="1219877" y="4421210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86" name="Gerade Verbindung 85"/>
                <p:cNvCxnSpPr/>
                <p:nvPr/>
              </p:nvCxnSpPr>
              <p:spPr bwMode="auto">
                <a:xfrm>
                  <a:off x="1220512" y="1408953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77" name="Textfeld 76"/>
              <p:cNvSpPr txBox="1"/>
              <p:nvPr/>
            </p:nvSpPr>
            <p:spPr>
              <a:xfrm>
                <a:off x="1072806" y="1237228"/>
                <a:ext cx="510076" cy="21852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smtClean="0">
                    <a:solidFill>
                      <a:schemeClr val="tx1"/>
                    </a:solidFill>
                  </a:rPr>
                  <a:t>0k</a:t>
                </a: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endParaRPr lang="de-DE" dirty="0">
                  <a:solidFill>
                    <a:schemeClr val="tx1"/>
                  </a:solidFill>
                </a:endParaRP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r>
                  <a:rPr lang="de-DE" sz="2400" dirty="0" smtClean="0">
                    <a:solidFill>
                      <a:schemeClr val="tx1"/>
                    </a:solidFill>
                  </a:rPr>
                  <a:t>8k</a:t>
                </a:r>
                <a:endParaRPr lang="de-DE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8" name="Gerade Verbindung mit Pfeil 77"/>
              <p:cNvCxnSpPr/>
              <p:nvPr/>
            </p:nvCxnSpPr>
            <p:spPr bwMode="auto">
              <a:xfrm flipV="1">
                <a:off x="1316152" y="1729263"/>
                <a:ext cx="0" cy="116148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79" name="Textfeld 78"/>
              <p:cNvSpPr txBox="1"/>
              <p:nvPr/>
            </p:nvSpPr>
            <p:spPr>
              <a:xfrm>
                <a:off x="1610377" y="3558376"/>
                <a:ext cx="16818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006600"/>
                    </a:solidFill>
                  </a:rPr>
                  <a:t>r</a:t>
                </a:r>
                <a:r>
                  <a:rPr lang="de-DE" sz="1400" dirty="0" smtClean="0">
                    <a:solidFill>
                      <a:srgbClr val="006600"/>
                    </a:solidFill>
                  </a:rPr>
                  <a:t>elative </a:t>
                </a:r>
                <a:r>
                  <a:rPr lang="de-DE" sz="1400" dirty="0" err="1" smtClean="0">
                    <a:solidFill>
                      <a:srgbClr val="006600"/>
                    </a:solidFill>
                  </a:rPr>
                  <a:t>coverage</a:t>
                </a:r>
                <a:endParaRPr lang="de-DE" sz="1400" dirty="0">
                  <a:solidFill>
                    <a:srgbClr val="006600"/>
                  </a:solidFill>
                </a:endParaRPr>
              </a:p>
            </p:txBody>
          </p:sp>
          <p:cxnSp>
            <p:nvCxnSpPr>
              <p:cNvPr id="80" name="Gerade Verbindung mit Pfeil 79"/>
              <p:cNvCxnSpPr/>
              <p:nvPr/>
            </p:nvCxnSpPr>
            <p:spPr bwMode="auto">
              <a:xfrm flipV="1">
                <a:off x="1953248" y="3448504"/>
                <a:ext cx="901664" cy="2632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74" name="Gerade Verbindung mit Pfeil 73"/>
            <p:cNvCxnSpPr/>
            <p:nvPr/>
          </p:nvCxnSpPr>
          <p:spPr bwMode="auto">
            <a:xfrm>
              <a:off x="2337082" y="3866153"/>
              <a:ext cx="95674" cy="683443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1" name="Gruppieren 100"/>
          <p:cNvGrpSpPr/>
          <p:nvPr/>
        </p:nvGrpSpPr>
        <p:grpSpPr>
          <a:xfrm>
            <a:off x="1887232" y="4077072"/>
            <a:ext cx="2519631" cy="2688804"/>
            <a:chOff x="3060481" y="669494"/>
            <a:chExt cx="2519631" cy="2688804"/>
          </a:xfrm>
        </p:grpSpPr>
        <p:sp>
          <p:nvSpPr>
            <p:cNvPr id="102" name="Textfeld 101"/>
            <p:cNvSpPr txBox="1"/>
            <p:nvPr/>
          </p:nvSpPr>
          <p:spPr>
            <a:xfrm>
              <a:off x="3771231" y="2667479"/>
              <a:ext cx="180209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2400" dirty="0" smtClean="0"/>
                <a:t>0               1</a:t>
              </a:r>
              <a:endParaRPr lang="de-DE" sz="2400" dirty="0"/>
            </a:p>
          </p:txBody>
        </p:sp>
        <p:pic>
          <p:nvPicPr>
            <p:cNvPr id="103" name="Picture 2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7670" y="777127"/>
              <a:ext cx="1692000" cy="198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4" name="Gruppieren 103"/>
            <p:cNvGrpSpPr/>
            <p:nvPr/>
          </p:nvGrpSpPr>
          <p:grpSpPr>
            <a:xfrm>
              <a:off x="3829602" y="798995"/>
              <a:ext cx="1654163" cy="1905333"/>
              <a:chOff x="1219877" y="1408953"/>
              <a:chExt cx="2160240" cy="3021674"/>
            </a:xfrm>
          </p:grpSpPr>
          <p:cxnSp>
            <p:nvCxnSpPr>
              <p:cNvPr id="110" name="Gerade Verbindung 109"/>
              <p:cNvCxnSpPr/>
              <p:nvPr/>
            </p:nvCxnSpPr>
            <p:spPr bwMode="auto">
              <a:xfrm>
                <a:off x="1226862" y="3648172"/>
                <a:ext cx="2153255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1" name="Gerade Verbindung 110"/>
              <p:cNvCxnSpPr/>
              <p:nvPr/>
            </p:nvCxnSpPr>
            <p:spPr bwMode="auto">
              <a:xfrm>
                <a:off x="1219877" y="2878893"/>
                <a:ext cx="2153255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2" name="Gerade Verbindung 111"/>
              <p:cNvCxnSpPr/>
              <p:nvPr/>
            </p:nvCxnSpPr>
            <p:spPr bwMode="auto">
              <a:xfrm>
                <a:off x="1219877" y="2124959"/>
                <a:ext cx="2153255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3" name="Gerade Verbindung 112"/>
              <p:cNvCxnSpPr/>
              <p:nvPr/>
            </p:nvCxnSpPr>
            <p:spPr bwMode="auto">
              <a:xfrm>
                <a:off x="1219877" y="4430627"/>
                <a:ext cx="2153255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14" name="Gerade Verbindung 113"/>
              <p:cNvCxnSpPr/>
              <p:nvPr/>
            </p:nvCxnSpPr>
            <p:spPr bwMode="auto">
              <a:xfrm>
                <a:off x="1220512" y="1408953"/>
                <a:ext cx="2153255" cy="0"/>
              </a:xfrm>
              <a:prstGeom prst="line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05" name="Textfeld 104"/>
            <p:cNvSpPr txBox="1"/>
            <p:nvPr/>
          </p:nvSpPr>
          <p:spPr>
            <a:xfrm>
              <a:off x="3360682" y="669494"/>
              <a:ext cx="510076" cy="218521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2400" dirty="0" smtClean="0">
                  <a:solidFill>
                    <a:schemeClr val="tx1"/>
                  </a:solidFill>
                </a:rPr>
                <a:t>0k</a:t>
              </a:r>
            </a:p>
            <a:p>
              <a:endParaRPr lang="de-DE" sz="2400" dirty="0" smtClean="0">
                <a:solidFill>
                  <a:schemeClr val="tx1"/>
                </a:solidFill>
              </a:endParaRPr>
            </a:p>
            <a:p>
              <a:endParaRPr lang="de-DE" dirty="0">
                <a:solidFill>
                  <a:schemeClr val="tx1"/>
                </a:solidFill>
              </a:endParaRPr>
            </a:p>
            <a:p>
              <a:endParaRPr lang="de-DE" sz="2400" dirty="0" smtClean="0">
                <a:solidFill>
                  <a:schemeClr val="tx1"/>
                </a:solidFill>
              </a:endParaRPr>
            </a:p>
            <a:p>
              <a:endParaRPr lang="de-DE" sz="2400" dirty="0" smtClean="0">
                <a:solidFill>
                  <a:schemeClr val="tx1"/>
                </a:solidFill>
              </a:endParaRPr>
            </a:p>
            <a:p>
              <a:r>
                <a:rPr lang="de-DE" sz="2400" dirty="0" smtClean="0">
                  <a:solidFill>
                    <a:schemeClr val="tx1"/>
                  </a:solidFill>
                </a:rPr>
                <a:t>8k</a:t>
              </a:r>
              <a:endParaRPr lang="de-DE" sz="2400" dirty="0">
                <a:solidFill>
                  <a:schemeClr val="tx1"/>
                </a:solidFill>
              </a:endParaRPr>
            </a:p>
          </p:txBody>
        </p:sp>
        <p:cxnSp>
          <p:nvCxnSpPr>
            <p:cNvPr id="106" name="Gerade Verbindung mit Pfeil 105"/>
            <p:cNvCxnSpPr/>
            <p:nvPr/>
          </p:nvCxnSpPr>
          <p:spPr bwMode="auto">
            <a:xfrm flipV="1">
              <a:off x="3604028" y="1161529"/>
              <a:ext cx="0" cy="116148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7" name="Textfeld 106"/>
            <p:cNvSpPr txBox="1"/>
            <p:nvPr/>
          </p:nvSpPr>
          <p:spPr>
            <a:xfrm>
              <a:off x="3898253" y="3050521"/>
              <a:ext cx="1681859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solidFill>
                    <a:srgbClr val="006600"/>
                  </a:solidFill>
                </a:rPr>
                <a:t>r</a:t>
              </a:r>
              <a:r>
                <a:rPr lang="de-DE" sz="1400" dirty="0" smtClean="0">
                  <a:solidFill>
                    <a:srgbClr val="006600"/>
                  </a:solidFill>
                </a:rPr>
                <a:t>elative </a:t>
              </a:r>
              <a:r>
                <a:rPr lang="de-DE" sz="1400" dirty="0" err="1" smtClean="0">
                  <a:solidFill>
                    <a:srgbClr val="006600"/>
                  </a:solidFill>
                </a:rPr>
                <a:t>coverage</a:t>
              </a:r>
              <a:endParaRPr lang="de-DE" sz="1400" dirty="0">
                <a:solidFill>
                  <a:srgbClr val="006600"/>
                </a:solidFill>
              </a:endParaRPr>
            </a:p>
          </p:txBody>
        </p:sp>
        <p:cxnSp>
          <p:nvCxnSpPr>
            <p:cNvPr id="108" name="Gerade Verbindung mit Pfeil 107"/>
            <p:cNvCxnSpPr/>
            <p:nvPr/>
          </p:nvCxnSpPr>
          <p:spPr bwMode="auto">
            <a:xfrm flipV="1">
              <a:off x="4241124" y="2899868"/>
              <a:ext cx="901664" cy="263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9" name="Gerade Verbindung mit Pfeil 108"/>
            <p:cNvCxnSpPr/>
            <p:nvPr/>
          </p:nvCxnSpPr>
          <p:spPr bwMode="auto">
            <a:xfrm flipH="1" flipV="1">
              <a:off x="3060481" y="777127"/>
              <a:ext cx="387318" cy="914533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Gruppieren 2"/>
          <p:cNvGrpSpPr/>
          <p:nvPr/>
        </p:nvGrpSpPr>
        <p:grpSpPr>
          <a:xfrm>
            <a:off x="1691680" y="404664"/>
            <a:ext cx="2858710" cy="2985886"/>
            <a:chOff x="1705454" y="404664"/>
            <a:chExt cx="2858710" cy="2985886"/>
          </a:xfrm>
        </p:grpSpPr>
        <p:grpSp>
          <p:nvGrpSpPr>
            <p:cNvPr id="87" name="Gruppieren 86"/>
            <p:cNvGrpSpPr/>
            <p:nvPr/>
          </p:nvGrpSpPr>
          <p:grpSpPr>
            <a:xfrm>
              <a:off x="1705454" y="404664"/>
              <a:ext cx="2858710" cy="2985886"/>
              <a:chOff x="2865418" y="548680"/>
              <a:chExt cx="2858710" cy="2985886"/>
            </a:xfrm>
          </p:grpSpPr>
          <p:sp>
            <p:nvSpPr>
              <p:cNvPr id="88" name="Textfeld 87"/>
              <p:cNvSpPr txBox="1"/>
              <p:nvPr/>
            </p:nvSpPr>
            <p:spPr>
              <a:xfrm>
                <a:off x="3915247" y="2522157"/>
                <a:ext cx="1802097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smtClean="0"/>
                  <a:t>0               1</a:t>
                </a:r>
                <a:endParaRPr lang="de-DE" sz="2400" dirty="0"/>
              </a:p>
            </p:txBody>
          </p:sp>
          <p:pic>
            <p:nvPicPr>
              <p:cNvPr id="89" name="Picture 5"/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67188" y="619936"/>
                <a:ext cx="1716706" cy="20176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90" name="Gruppieren 89"/>
              <p:cNvGrpSpPr/>
              <p:nvPr/>
            </p:nvGrpSpPr>
            <p:grpSpPr>
              <a:xfrm>
                <a:off x="3973618" y="678181"/>
                <a:ext cx="1654163" cy="1911271"/>
                <a:chOff x="1219877" y="1408953"/>
                <a:chExt cx="2160240" cy="3031091"/>
              </a:xfrm>
            </p:grpSpPr>
            <p:cxnSp>
              <p:nvCxnSpPr>
                <p:cNvPr id="96" name="Gerade Verbindung 95"/>
                <p:cNvCxnSpPr/>
                <p:nvPr/>
              </p:nvCxnSpPr>
              <p:spPr bwMode="auto">
                <a:xfrm>
                  <a:off x="1226862" y="3648172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7" name="Gerade Verbindung 96"/>
                <p:cNvCxnSpPr/>
                <p:nvPr/>
              </p:nvCxnSpPr>
              <p:spPr bwMode="auto">
                <a:xfrm>
                  <a:off x="1219877" y="2878893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8" name="Gerade Verbindung 97"/>
                <p:cNvCxnSpPr/>
                <p:nvPr/>
              </p:nvCxnSpPr>
              <p:spPr bwMode="auto">
                <a:xfrm>
                  <a:off x="1219877" y="2124959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99" name="Gerade Verbindung 98"/>
                <p:cNvCxnSpPr/>
                <p:nvPr/>
              </p:nvCxnSpPr>
              <p:spPr bwMode="auto">
                <a:xfrm>
                  <a:off x="1219877" y="4440044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100" name="Gerade Verbindung 99"/>
                <p:cNvCxnSpPr/>
                <p:nvPr/>
              </p:nvCxnSpPr>
              <p:spPr bwMode="auto">
                <a:xfrm>
                  <a:off x="1220512" y="1408953"/>
                  <a:ext cx="2153255" cy="0"/>
                </a:xfrm>
                <a:prstGeom prst="line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</p:grpSp>
          <p:sp>
            <p:nvSpPr>
              <p:cNvPr id="91" name="Textfeld 90"/>
              <p:cNvSpPr txBox="1"/>
              <p:nvPr/>
            </p:nvSpPr>
            <p:spPr>
              <a:xfrm>
                <a:off x="3504698" y="548680"/>
                <a:ext cx="510076" cy="218521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de-DE" sz="2400" dirty="0" smtClean="0">
                    <a:solidFill>
                      <a:schemeClr val="tx1"/>
                    </a:solidFill>
                  </a:rPr>
                  <a:t>0k</a:t>
                </a: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endParaRPr lang="de-DE" dirty="0">
                  <a:solidFill>
                    <a:schemeClr val="tx1"/>
                  </a:solidFill>
                </a:endParaRP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endParaRPr lang="de-DE" sz="2400" dirty="0" smtClean="0">
                  <a:solidFill>
                    <a:schemeClr val="tx1"/>
                  </a:solidFill>
                </a:endParaRPr>
              </a:p>
              <a:p>
                <a:r>
                  <a:rPr lang="de-DE" sz="2400" dirty="0" smtClean="0">
                    <a:solidFill>
                      <a:schemeClr val="tx1"/>
                    </a:solidFill>
                  </a:rPr>
                  <a:t>8k</a:t>
                </a:r>
                <a:endParaRPr lang="de-DE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92" name="Gerade Verbindung mit Pfeil 91"/>
              <p:cNvCxnSpPr/>
              <p:nvPr/>
            </p:nvCxnSpPr>
            <p:spPr bwMode="auto">
              <a:xfrm flipV="1">
                <a:off x="3748044" y="1040715"/>
                <a:ext cx="0" cy="116148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93" name="Textfeld 92"/>
              <p:cNvSpPr txBox="1"/>
              <p:nvPr/>
            </p:nvSpPr>
            <p:spPr>
              <a:xfrm>
                <a:off x="4042269" y="2869828"/>
                <a:ext cx="168185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de-DE" sz="1400" dirty="0">
                    <a:solidFill>
                      <a:srgbClr val="006600"/>
                    </a:solidFill>
                  </a:rPr>
                  <a:t>r</a:t>
                </a:r>
                <a:r>
                  <a:rPr lang="de-DE" sz="1400" dirty="0" smtClean="0">
                    <a:solidFill>
                      <a:srgbClr val="006600"/>
                    </a:solidFill>
                  </a:rPr>
                  <a:t>elative </a:t>
                </a:r>
                <a:r>
                  <a:rPr lang="de-DE" sz="1400" dirty="0" err="1" smtClean="0">
                    <a:solidFill>
                      <a:srgbClr val="006600"/>
                    </a:solidFill>
                  </a:rPr>
                  <a:t>coverage</a:t>
                </a:r>
                <a:endParaRPr lang="de-DE" sz="1400" dirty="0">
                  <a:solidFill>
                    <a:srgbClr val="006600"/>
                  </a:solidFill>
                </a:endParaRPr>
              </a:p>
            </p:txBody>
          </p:sp>
          <p:cxnSp>
            <p:nvCxnSpPr>
              <p:cNvPr id="94" name="Gerade Verbindung mit Pfeil 93"/>
              <p:cNvCxnSpPr/>
              <p:nvPr/>
            </p:nvCxnSpPr>
            <p:spPr bwMode="auto">
              <a:xfrm flipV="1">
                <a:off x="4385140" y="2759956"/>
                <a:ext cx="901664" cy="2632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5" name="Gerade Verbindung mit Pfeil 94"/>
              <p:cNvCxnSpPr/>
              <p:nvPr/>
            </p:nvCxnSpPr>
            <p:spPr bwMode="auto">
              <a:xfrm flipH="1">
                <a:off x="2865418" y="2589452"/>
                <a:ext cx="1149356" cy="945114"/>
              </a:xfrm>
              <a:prstGeom prst="straightConnector1">
                <a:avLst/>
              </a:prstGeom>
              <a:solidFill>
                <a:schemeClr val="accent1"/>
              </a:solidFill>
              <a:ln w="57150" cap="flat" cmpd="sng" algn="ctr">
                <a:solidFill>
                  <a:srgbClr val="008000"/>
                </a:solidFill>
                <a:prstDash val="solid"/>
                <a:round/>
                <a:headEnd type="none" w="med" len="med"/>
                <a:tailEnd type="arrow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2" name="Textfeld 1"/>
            <p:cNvSpPr txBox="1"/>
            <p:nvPr/>
          </p:nvSpPr>
          <p:spPr>
            <a:xfrm>
              <a:off x="3419872" y="620688"/>
              <a:ext cx="7553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>
                  <a:solidFill>
                    <a:srgbClr val="FF9900"/>
                  </a:solidFill>
                </a:rPr>
                <a:t>desert</a:t>
              </a:r>
              <a:endParaRPr lang="de-DE" dirty="0">
                <a:solidFill>
                  <a:srgbClr val="FF9900"/>
                </a:solidFill>
              </a:endParaRPr>
            </a:p>
          </p:txBody>
        </p:sp>
        <p:sp>
          <p:nvSpPr>
            <p:cNvPr id="51" name="Textfeld 50"/>
            <p:cNvSpPr txBox="1"/>
            <p:nvPr/>
          </p:nvSpPr>
          <p:spPr>
            <a:xfrm>
              <a:off x="3842395" y="2010326"/>
              <a:ext cx="6864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>
                  <a:solidFill>
                    <a:srgbClr val="92D050"/>
                  </a:solidFill>
                </a:rPr>
                <a:t>grass</a:t>
              </a:r>
              <a:endParaRPr lang="de-DE" dirty="0">
                <a:solidFill>
                  <a:srgbClr val="92D050"/>
                </a:solidFill>
              </a:endParaRPr>
            </a:p>
          </p:txBody>
        </p:sp>
        <p:sp>
          <p:nvSpPr>
            <p:cNvPr id="52" name="Textfeld 51"/>
            <p:cNvSpPr txBox="1"/>
            <p:nvPr/>
          </p:nvSpPr>
          <p:spPr>
            <a:xfrm>
              <a:off x="3237522" y="2082334"/>
              <a:ext cx="53893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 err="1" smtClean="0">
                  <a:solidFill>
                    <a:srgbClr val="008000"/>
                  </a:solidFill>
                </a:rPr>
                <a:t>tree</a:t>
              </a:r>
              <a:endParaRPr lang="de-DE" dirty="0">
                <a:solidFill>
                  <a:srgbClr val="008000"/>
                </a:solidFill>
              </a:endParaRPr>
            </a:p>
          </p:txBody>
        </p:sp>
      </p:grpSp>
      <p:sp>
        <p:nvSpPr>
          <p:cNvPr id="117" name="Textfeld 116"/>
          <p:cNvSpPr txBox="1"/>
          <p:nvPr/>
        </p:nvSpPr>
        <p:spPr>
          <a:xfrm>
            <a:off x="563183" y="44624"/>
            <a:ext cx="63850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2400" dirty="0" smtClean="0">
                <a:solidFill>
                  <a:srgbClr val="A50021"/>
                </a:solidFill>
              </a:rPr>
              <a:t>Regional zoom </a:t>
            </a:r>
            <a:r>
              <a:rPr lang="de-DE" sz="2400" dirty="0" err="1" smtClean="0">
                <a:solidFill>
                  <a:srgbClr val="A50021"/>
                </a:solidFill>
              </a:rPr>
              <a:t>of</a:t>
            </a:r>
            <a:r>
              <a:rPr lang="de-DE" sz="2400" dirty="0" smtClean="0">
                <a:solidFill>
                  <a:srgbClr val="A50021"/>
                </a:solidFill>
              </a:rPr>
              <a:t> global </a:t>
            </a:r>
            <a:r>
              <a:rPr lang="de-DE" sz="2400" dirty="0" err="1" smtClean="0">
                <a:solidFill>
                  <a:srgbClr val="A50021"/>
                </a:solidFill>
              </a:rPr>
              <a:t>vegetation</a:t>
            </a:r>
            <a:r>
              <a:rPr lang="de-DE" sz="2400" dirty="0" smtClean="0">
                <a:solidFill>
                  <a:srgbClr val="A50021"/>
                </a:solidFill>
              </a:rPr>
              <a:t> </a:t>
            </a:r>
            <a:r>
              <a:rPr lang="de-DE" sz="2400" dirty="0" err="1" smtClean="0">
                <a:solidFill>
                  <a:srgbClr val="A50021"/>
                </a:solidFill>
              </a:rPr>
              <a:t>dynamics</a:t>
            </a:r>
            <a:endParaRPr lang="de-DE" sz="2400" dirty="0">
              <a:solidFill>
                <a:srgbClr val="A50021"/>
              </a:solidFill>
            </a:endParaRPr>
          </a:p>
        </p:txBody>
      </p:sp>
      <p:sp>
        <p:nvSpPr>
          <p:cNvPr id="4" name="Textfeld 3"/>
          <p:cNvSpPr txBox="1"/>
          <p:nvPr/>
        </p:nvSpPr>
        <p:spPr>
          <a:xfrm>
            <a:off x="6372200" y="548680"/>
            <a:ext cx="2820324" cy="559537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182563" indent="-18256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2000" dirty="0" smtClean="0"/>
              <a:t>Model </a:t>
            </a:r>
            <a:r>
              <a:rPr lang="de-DE" sz="2000" dirty="0" err="1" smtClean="0"/>
              <a:t>simulations</a:t>
            </a:r>
            <a:r>
              <a:rPr lang="de-DE" sz="2000" dirty="0" smtClean="0"/>
              <a:t> </a:t>
            </a:r>
            <a:br>
              <a:rPr lang="de-DE" sz="2000" dirty="0" smtClean="0"/>
            </a:br>
            <a:r>
              <a:rPr lang="de-DE" sz="2000" dirty="0" err="1" smtClean="0"/>
              <a:t>reveal</a:t>
            </a:r>
            <a:r>
              <a:rPr lang="de-DE" sz="2000" dirty="0" smtClean="0"/>
              <a:t> rapid </a:t>
            </a:r>
            <a:r>
              <a:rPr lang="de-DE" sz="2000" dirty="0" err="1" smtClean="0"/>
              <a:t>changes</a:t>
            </a:r>
            <a:r>
              <a:rPr lang="de-DE" sz="2000" dirty="0" smtClean="0"/>
              <a:t> </a:t>
            </a:r>
            <a:br>
              <a:rPr lang="de-DE" sz="2000" dirty="0" smtClean="0"/>
            </a:br>
            <a:r>
              <a:rPr lang="de-DE" sz="2000" dirty="0" smtClean="0"/>
              <a:t>in </a:t>
            </a:r>
            <a:r>
              <a:rPr lang="de-DE" sz="2000" dirty="0" err="1" smtClean="0"/>
              <a:t>some</a:t>
            </a:r>
            <a:r>
              <a:rPr lang="de-DE" sz="2000" dirty="0" smtClean="0"/>
              <a:t> </a:t>
            </a:r>
            <a:r>
              <a:rPr lang="de-DE" sz="2000" dirty="0" err="1" smtClean="0"/>
              <a:t>regions</a:t>
            </a:r>
            <a:r>
              <a:rPr lang="de-DE" sz="2000" dirty="0" smtClean="0"/>
              <a:t> </a:t>
            </a:r>
            <a:r>
              <a:rPr lang="de-DE" sz="2000" dirty="0" err="1" smtClean="0"/>
              <a:t>of</a:t>
            </a:r>
            <a:r>
              <a:rPr lang="de-DE" sz="2000" dirty="0" smtClean="0"/>
              <a:t> </a:t>
            </a:r>
            <a:br>
              <a:rPr lang="de-DE" sz="2000" dirty="0" smtClean="0"/>
            </a:br>
            <a:r>
              <a:rPr lang="de-DE" sz="2000" dirty="0" err="1" smtClean="0"/>
              <a:t>the</a:t>
            </a:r>
            <a:r>
              <a:rPr lang="de-DE" sz="2000" dirty="0" smtClean="0"/>
              <a:t> Sahara </a:t>
            </a:r>
            <a:r>
              <a:rPr lang="de-DE" sz="2000" dirty="0" err="1" smtClean="0"/>
              <a:t>and</a:t>
            </a:r>
            <a:r>
              <a:rPr lang="de-DE" sz="2000" dirty="0" smtClean="0"/>
              <a:t> </a:t>
            </a:r>
            <a:r>
              <a:rPr lang="de-DE" sz="2000" dirty="0" err="1" smtClean="0"/>
              <a:t>more</a:t>
            </a:r>
            <a:r>
              <a:rPr lang="de-DE" sz="2000" dirty="0" smtClean="0"/>
              <a:t/>
            </a:r>
            <a:br>
              <a:rPr lang="de-DE" sz="2000" dirty="0" smtClean="0"/>
            </a:br>
            <a:r>
              <a:rPr lang="de-DE" sz="2000" dirty="0" smtClean="0"/>
              <a:t>gradual  </a:t>
            </a:r>
            <a:r>
              <a:rPr lang="de-DE" sz="2000" dirty="0" err="1" smtClean="0"/>
              <a:t>transitions</a:t>
            </a:r>
            <a:r>
              <a:rPr lang="de-DE" sz="2000" dirty="0" smtClean="0"/>
              <a:t/>
            </a:r>
            <a:br>
              <a:rPr lang="de-DE" sz="2000" dirty="0" smtClean="0"/>
            </a:br>
            <a:r>
              <a:rPr lang="de-DE" sz="2000" dirty="0" smtClean="0"/>
              <a:t>in </a:t>
            </a:r>
            <a:r>
              <a:rPr lang="de-DE" sz="2000" dirty="0" err="1" smtClean="0"/>
              <a:t>others</a:t>
            </a:r>
            <a:r>
              <a:rPr lang="de-DE" sz="2000" dirty="0" smtClean="0"/>
              <a:t>.</a:t>
            </a:r>
          </a:p>
          <a:p>
            <a:pPr marL="182563" indent="-18256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de-DE" sz="2000" dirty="0" smtClean="0"/>
              <a:t>The </a:t>
            </a:r>
            <a:r>
              <a:rPr lang="de-DE" sz="2000" dirty="0" err="1" smtClean="0"/>
              <a:t>model</a:t>
            </a:r>
            <a:r>
              <a:rPr lang="de-DE" sz="2000" dirty="0" smtClean="0"/>
              <a:t> </a:t>
            </a:r>
            <a:r>
              <a:rPr lang="de-DE" sz="2000" dirty="0" err="1" smtClean="0"/>
              <a:t>shows</a:t>
            </a:r>
            <a:r>
              <a:rPr lang="de-DE" sz="2000" dirty="0" smtClean="0"/>
              <a:t> a </a:t>
            </a:r>
            <a:br>
              <a:rPr lang="de-DE" sz="2000" dirty="0" smtClean="0"/>
            </a:br>
            <a:r>
              <a:rPr lang="de-DE" sz="2000" dirty="0" err="1" smtClean="0"/>
              <a:t>timetransgressive</a:t>
            </a:r>
            <a:r>
              <a:rPr lang="de-DE" sz="2000" dirty="0" smtClean="0"/>
              <a:t/>
            </a:r>
            <a:br>
              <a:rPr lang="de-DE" sz="2000" dirty="0" smtClean="0"/>
            </a:br>
            <a:r>
              <a:rPr lang="de-DE" sz="2000" dirty="0" err="1" smtClean="0"/>
              <a:t>termination</a:t>
            </a:r>
            <a:r>
              <a:rPr lang="de-DE" sz="2000" dirty="0" smtClean="0"/>
              <a:t> </a:t>
            </a:r>
            <a:r>
              <a:rPr lang="de-DE" sz="2000" dirty="0" err="1" smtClean="0"/>
              <a:t>of</a:t>
            </a:r>
            <a:r>
              <a:rPr lang="de-DE" sz="2000" dirty="0" smtClean="0"/>
              <a:t> </a:t>
            </a:r>
            <a:r>
              <a:rPr lang="de-DE" sz="2000" dirty="0" err="1" smtClean="0"/>
              <a:t>the</a:t>
            </a:r>
            <a:r>
              <a:rPr lang="de-DE" sz="2000" dirty="0" smtClean="0"/>
              <a:t> </a:t>
            </a:r>
            <a:br>
              <a:rPr lang="de-DE" sz="2000" dirty="0" smtClean="0"/>
            </a:br>
            <a:r>
              <a:rPr lang="de-DE" sz="2000" dirty="0" smtClean="0"/>
              <a:t>AHP, </a:t>
            </a:r>
            <a:br>
              <a:rPr lang="de-DE" sz="2000" dirty="0" smtClean="0"/>
            </a:br>
            <a:r>
              <a:rPr lang="de-DE" sz="2000" dirty="0" err="1" smtClean="0"/>
              <a:t>which</a:t>
            </a:r>
            <a:r>
              <a:rPr lang="de-DE" sz="2000" dirty="0" smtClean="0"/>
              <a:t>, </a:t>
            </a:r>
            <a:r>
              <a:rPr lang="de-DE" sz="2000" dirty="0" err="1" smtClean="0"/>
              <a:t>however</a:t>
            </a:r>
            <a:r>
              <a:rPr lang="de-DE" sz="2000" dirty="0" smtClean="0"/>
              <a:t>,</a:t>
            </a:r>
            <a:br>
              <a:rPr lang="de-DE" sz="2000" dirty="0" smtClean="0"/>
            </a:br>
            <a:r>
              <a:rPr lang="de-DE" sz="2000" dirty="0" err="1" smtClean="0"/>
              <a:t>seems</a:t>
            </a:r>
            <a:r>
              <a:rPr lang="de-DE" sz="2000" dirty="0" smtClean="0"/>
              <a:t> </a:t>
            </a:r>
            <a:r>
              <a:rPr lang="de-DE" sz="2000" dirty="0" err="1" smtClean="0"/>
              <a:t>to</a:t>
            </a:r>
            <a:r>
              <a:rPr lang="de-DE" sz="2000" dirty="0" smtClean="0"/>
              <a:t> </a:t>
            </a:r>
            <a:r>
              <a:rPr lang="de-DE" sz="2000" dirty="0" err="1" smtClean="0"/>
              <a:t>occur</a:t>
            </a:r>
            <a:r>
              <a:rPr lang="de-DE" sz="2000" dirty="0" smtClean="0"/>
              <a:t/>
            </a:r>
            <a:br>
              <a:rPr lang="de-DE" sz="2000" dirty="0" smtClean="0"/>
            </a:br>
            <a:r>
              <a:rPr lang="de-DE" sz="2000" dirty="0" err="1" smtClean="0"/>
              <a:t>latter</a:t>
            </a:r>
            <a:r>
              <a:rPr lang="de-DE" sz="2000" dirty="0"/>
              <a:t> </a:t>
            </a:r>
            <a:r>
              <a:rPr lang="de-DE" sz="2000" dirty="0" err="1" smtClean="0"/>
              <a:t>than</a:t>
            </a:r>
            <a:r>
              <a:rPr lang="de-DE" sz="2000" dirty="0" smtClean="0"/>
              <a:t> </a:t>
            </a:r>
            <a:r>
              <a:rPr lang="de-DE" sz="2000" dirty="0" err="1" smtClean="0"/>
              <a:t>data</a:t>
            </a:r>
            <a:r>
              <a:rPr lang="de-DE" sz="2000" dirty="0" smtClean="0"/>
              <a:t/>
            </a:r>
            <a:br>
              <a:rPr lang="de-DE" sz="2000" dirty="0" smtClean="0"/>
            </a:br>
            <a:r>
              <a:rPr lang="de-DE" sz="2000" dirty="0" err="1" smtClean="0"/>
              <a:t>indicate</a:t>
            </a:r>
            <a:r>
              <a:rPr lang="de-DE" sz="2000" dirty="0" smtClean="0"/>
              <a:t>.</a:t>
            </a:r>
          </a:p>
          <a:p>
            <a:pPr>
              <a:lnSpc>
                <a:spcPct val="120000"/>
              </a:lnSpc>
            </a:pPr>
            <a:endParaRPr lang="de-DE" sz="1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 b="53553"/>
          <a:stretch/>
        </p:blipFill>
        <p:spPr bwMode="auto">
          <a:xfrm>
            <a:off x="4677406" y="1809040"/>
            <a:ext cx="1766802" cy="19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3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26" b="811"/>
          <a:stretch/>
        </p:blipFill>
        <p:spPr bwMode="auto">
          <a:xfrm>
            <a:off x="4702368" y="3778571"/>
            <a:ext cx="1766802" cy="2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1" name="Gerade Verbindung mit Pfeil 60"/>
          <p:cNvCxnSpPr/>
          <p:nvPr/>
        </p:nvCxnSpPr>
        <p:spPr bwMode="auto">
          <a:xfrm flipH="1">
            <a:off x="4057068" y="3172467"/>
            <a:ext cx="658948" cy="472557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3" name="Textfeld 62"/>
          <p:cNvSpPr txBox="1"/>
          <p:nvPr/>
        </p:nvSpPr>
        <p:spPr>
          <a:xfrm>
            <a:off x="4583846" y="1484784"/>
            <a:ext cx="1952842" cy="3385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„Lake </a:t>
            </a:r>
            <a:r>
              <a:rPr lang="de-D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Yoa</a:t>
            </a:r>
            <a:r>
              <a:rPr lang="de-D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grid</a:t>
            </a:r>
            <a:r>
              <a:rPr lang="de-D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sz="1600" dirty="0" err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  <a:r>
              <a:rPr lang="de-DE" sz="16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endParaRPr lang="de-DE" sz="16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4" name="Gerade Verbindung mit Pfeil 63"/>
          <p:cNvCxnSpPr/>
          <p:nvPr/>
        </p:nvCxnSpPr>
        <p:spPr bwMode="auto">
          <a:xfrm flipH="1" flipV="1">
            <a:off x="4067944" y="3933057"/>
            <a:ext cx="634424" cy="273516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906715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4" grpId="0" animBg="1"/>
      <p:bldP spid="63" grpId="0" animBg="1"/>
    </p:bldLst>
  </p:timing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</Words>
  <Application>Microsoft Office PowerPoint</Application>
  <PresentationFormat>Bildschirmpräsentation (4:3)</PresentationFormat>
  <Paragraphs>44</Paragraphs>
  <Slides>2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3" baseType="lpstr">
      <vt:lpstr>Larissa</vt:lpstr>
      <vt:lpstr>PowerPoint-Präsentation</vt:lpstr>
      <vt:lpstr>PowerPoint-Präsentation</vt:lpstr>
    </vt:vector>
  </TitlesOfParts>
  <Company>ZMAW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 Claußen</dc:creator>
  <cp:lastModifiedBy>Martin Claußen</cp:lastModifiedBy>
  <cp:revision>1</cp:revision>
  <dcterms:created xsi:type="dcterms:W3CDTF">2018-11-09T13:27:49Z</dcterms:created>
  <dcterms:modified xsi:type="dcterms:W3CDTF">2018-11-09T13:28:22Z</dcterms:modified>
</cp:coreProperties>
</file>